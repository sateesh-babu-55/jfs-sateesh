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35"/>
  </p:notesMasterIdLst>
  <p:sldIdLst>
    <p:sldId id="266" r:id="rId5"/>
    <p:sldId id="267" r:id="rId6"/>
    <p:sldId id="268" r:id="rId7"/>
    <p:sldId id="269" r:id="rId8"/>
    <p:sldId id="270" r:id="rId9"/>
    <p:sldId id="271" r:id="rId10"/>
    <p:sldId id="293" r:id="rId11"/>
    <p:sldId id="292" r:id="rId12"/>
    <p:sldId id="296" r:id="rId13"/>
    <p:sldId id="277" r:id="rId14"/>
    <p:sldId id="278" r:id="rId15"/>
    <p:sldId id="291" r:id="rId16"/>
    <p:sldId id="279" r:id="rId17"/>
    <p:sldId id="287" r:id="rId18"/>
    <p:sldId id="280" r:id="rId19"/>
    <p:sldId id="281" r:id="rId20"/>
    <p:sldId id="272" r:id="rId21"/>
    <p:sldId id="274" r:id="rId22"/>
    <p:sldId id="275" r:id="rId23"/>
    <p:sldId id="276" r:id="rId24"/>
    <p:sldId id="282" r:id="rId25"/>
    <p:sldId id="283" r:id="rId26"/>
    <p:sldId id="288" r:id="rId27"/>
    <p:sldId id="289" r:id="rId28"/>
    <p:sldId id="294" r:id="rId29"/>
    <p:sldId id="290" r:id="rId30"/>
    <p:sldId id="284" r:id="rId31"/>
    <p:sldId id="285" r:id="rId32"/>
    <p:sldId id="295" r:id="rId33"/>
    <p:sldId id="29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828813-5412-4EB7-830D-E273505382AA}">
          <p14:sldIdLst>
            <p14:sldId id="266"/>
            <p14:sldId id="267"/>
            <p14:sldId id="268"/>
            <p14:sldId id="269"/>
            <p14:sldId id="270"/>
            <p14:sldId id="271"/>
            <p14:sldId id="293"/>
            <p14:sldId id="292"/>
            <p14:sldId id="296"/>
            <p14:sldId id="277"/>
            <p14:sldId id="278"/>
            <p14:sldId id="291"/>
            <p14:sldId id="279"/>
            <p14:sldId id="287"/>
            <p14:sldId id="280"/>
            <p14:sldId id="281"/>
            <p14:sldId id="272"/>
            <p14:sldId id="274"/>
            <p14:sldId id="275"/>
            <p14:sldId id="276"/>
            <p14:sldId id="282"/>
            <p14:sldId id="283"/>
            <p14:sldId id="288"/>
            <p14:sldId id="289"/>
            <p14:sldId id="294"/>
            <p14:sldId id="290"/>
          </p14:sldIdLst>
        </p14:section>
        <p14:section name="Untitled Section" id="{0EED3E33-40BE-40CC-8943-C21B226A3BEE}">
          <p14:sldIdLst>
            <p14:sldId id="284"/>
            <p14:sldId id="285"/>
            <p14:sldId id="295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19" autoAdjust="0"/>
  </p:normalViewPr>
  <p:slideViewPr>
    <p:cSldViewPr snapToGrid="0">
      <p:cViewPr varScale="1">
        <p:scale>
          <a:sx n="74" d="100"/>
          <a:sy n="74" d="100"/>
        </p:scale>
        <p:origin x="12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C4B15-EEAC-4530-A854-8BA097E17F0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92A54-9B3A-425E-ACF1-F15C2304DE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080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184DA70-C731-4C70-880D-CCD4705E623C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264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75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7669AF7-7BEB-44E4-9852-375E34362B5B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3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6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2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35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237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52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1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935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3382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6842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7410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6687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7275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908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70864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5132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8482" y="1059873"/>
            <a:ext cx="7637318" cy="20158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	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sz="2000" b="1" dirty="0"/>
              <a:t>                  </a:t>
            </a:r>
            <a:r>
              <a:rPr lang="en-US" sz="2700" b="1" dirty="0">
                <a:highlight>
                  <a:srgbClr val="008000"/>
                </a:highlight>
              </a:rPr>
              <a:t>….Career IT  </a:t>
            </a:r>
            <a:r>
              <a:rPr lang="en-US" sz="2700" b="1" dirty="0">
                <a:solidFill>
                  <a:schemeClr val="tx1"/>
                </a:solidFill>
                <a:highlight>
                  <a:srgbClr val="008000"/>
                </a:highlight>
              </a:rPr>
              <a:t>TRAINING INSTITUTE ....</a:t>
            </a:r>
            <a:br>
              <a:rPr lang="en-US" sz="2000" b="1" dirty="0">
                <a:solidFill>
                  <a:schemeClr val="tx1"/>
                </a:solidFill>
              </a:rPr>
            </a:br>
            <a:br>
              <a:rPr lang="en-US" sz="2000" b="1" dirty="0"/>
            </a:br>
            <a:r>
              <a:rPr lang="en-US" sz="2000" b="1" dirty="0"/>
              <a:t>                </a:t>
            </a:r>
            <a:r>
              <a:rPr lang="en-US" sz="2000" b="1" dirty="0">
                <a:highlight>
                  <a:srgbClr val="0000FF"/>
                </a:highlight>
              </a:rPr>
              <a:t>..</a:t>
            </a:r>
            <a:r>
              <a:rPr lang="en-US" sz="1800" b="1" dirty="0">
                <a:highlight>
                  <a:srgbClr val="0000FF"/>
                </a:highlight>
              </a:rPr>
              <a:t>H T M L &amp; C S S  FUNDAMENTALS FOR WEBPAGE DESIGN.. 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		      		    </a:t>
            </a:r>
            <a:r>
              <a:rPr lang="en-US" dirty="0"/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2164" y="2826327"/>
            <a:ext cx="6716937" cy="4031673"/>
          </a:xfrm>
        </p:spPr>
        <p:txBody>
          <a:bodyPr>
            <a:normAutofit/>
          </a:bodyPr>
          <a:lstStyle/>
          <a:p>
            <a:r>
              <a:rPr lang="en-US" b="1" dirty="0"/>
              <a:t>         MENTOR—MR.SAMBASIVARAO SIR..</a:t>
            </a:r>
          </a:p>
          <a:p>
            <a:r>
              <a:rPr lang="en-US" b="1" dirty="0"/>
              <a:t>…TEAM…</a:t>
            </a:r>
          </a:p>
          <a:p>
            <a:r>
              <a:rPr lang="en-US" b="1" dirty="0"/>
              <a:t>SATEESH BABU</a:t>
            </a:r>
          </a:p>
          <a:p>
            <a:r>
              <a:rPr lang="en-US" b="1" dirty="0"/>
              <a:t>SARANYA</a:t>
            </a:r>
          </a:p>
          <a:p>
            <a:r>
              <a:rPr lang="en-US" b="1" dirty="0"/>
              <a:t>AMARNADH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44784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F381-1A9C-C36A-12EE-BD9B2C30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99306" y="707924"/>
            <a:ext cx="11316932" cy="6046838"/>
          </a:xfrm>
        </p:spPr>
        <p:txBody>
          <a:bodyPr/>
          <a:lstStyle/>
          <a:p>
            <a:r>
              <a:rPr lang="en-US" dirty="0"/>
              <a:t>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34DB6-75B1-A589-B814-BB17DBC55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070264"/>
            <a:ext cx="10003339" cy="5487853"/>
          </a:xfrm>
        </p:spPr>
        <p:txBody>
          <a:bodyPr>
            <a:noAutofit/>
          </a:bodyPr>
          <a:lstStyle/>
          <a:p>
            <a:pPr marL="201168" lvl="1" indent="0">
              <a:buNone/>
            </a:pPr>
            <a:r>
              <a:rPr lang="en-US" sz="1600" b="1" dirty="0"/>
              <a:t>• INTRODUCTION</a:t>
            </a:r>
          </a:p>
          <a:p>
            <a:pPr marL="201168" lvl="1" indent="0">
              <a:buNone/>
            </a:pPr>
            <a:r>
              <a:rPr lang="en-US" sz="1600" b="1" dirty="0"/>
              <a:t>• HTML TAGS</a:t>
            </a:r>
          </a:p>
          <a:p>
            <a:pPr marL="201168" lvl="1" indent="0">
              <a:buNone/>
            </a:pPr>
            <a:r>
              <a:rPr lang="en-US" sz="1600" dirty="0"/>
              <a:t>• HTML HEADINGS</a:t>
            </a:r>
            <a:endParaRPr lang="en-US" sz="1600" b="1" dirty="0"/>
          </a:p>
          <a:p>
            <a:pPr marL="201168" lvl="1" indent="0">
              <a:buNone/>
            </a:pPr>
            <a:r>
              <a:rPr lang="en-US" sz="1600" b="1" dirty="0"/>
              <a:t>• HTML-5 FEATURES</a:t>
            </a:r>
          </a:p>
          <a:p>
            <a:pPr marL="201168" lvl="1" indent="0">
              <a:buNone/>
            </a:pPr>
            <a:r>
              <a:rPr lang="en-US" sz="1600" b="1" dirty="0"/>
              <a:t>• HTML ELEMENTS</a:t>
            </a:r>
          </a:p>
          <a:p>
            <a:pPr marL="201168" lvl="1" indent="0">
              <a:buNone/>
            </a:pPr>
            <a:r>
              <a:rPr lang="en-US" sz="1600" b="1" dirty="0"/>
              <a:t>• SEMANTIC ELEMENTS</a:t>
            </a:r>
          </a:p>
          <a:p>
            <a:pPr marL="201168" lvl="1" indent="0">
              <a:buNone/>
            </a:pPr>
            <a:r>
              <a:rPr lang="en-US" sz="1600" b="1" dirty="0"/>
              <a:t>• STRUCTURE OF WEBPAGE</a:t>
            </a:r>
          </a:p>
          <a:p>
            <a:pPr marL="201168" lvl="1" indent="0">
              <a:buNone/>
            </a:pPr>
            <a:r>
              <a:rPr lang="en-US" sz="1600" b="1" dirty="0"/>
              <a:t>• SELECTORS</a:t>
            </a:r>
          </a:p>
          <a:p>
            <a:pPr marL="201168" lvl="1" indent="0">
              <a:buNone/>
            </a:pPr>
            <a:r>
              <a:rPr lang="en-US" sz="1600" b="1" dirty="0"/>
              <a:t>• PARAGRAPHS</a:t>
            </a:r>
          </a:p>
          <a:p>
            <a:pPr marL="201168" lvl="1" indent="0">
              <a:buNone/>
            </a:pPr>
            <a:r>
              <a:rPr lang="en-US" sz="1600" b="1" dirty="0"/>
              <a:t>• DIVISIONS</a:t>
            </a:r>
          </a:p>
          <a:p>
            <a:pPr marL="201168" lvl="1" indent="0">
              <a:buNone/>
            </a:pPr>
            <a:r>
              <a:rPr lang="en-US" sz="1600" b="1" dirty="0"/>
              <a:t>• IMAGES</a:t>
            </a:r>
          </a:p>
          <a:p>
            <a:pPr marL="201168" lvl="1" indent="0">
              <a:buNone/>
            </a:pPr>
            <a:r>
              <a:rPr lang="en-US" sz="1600" b="1" dirty="0"/>
              <a:t>• TABLES</a:t>
            </a:r>
          </a:p>
          <a:p>
            <a:pPr marL="201168" lvl="1" indent="0">
              <a:buNone/>
            </a:pPr>
            <a:r>
              <a:rPr lang="en-US" sz="1600" b="1" dirty="0"/>
              <a:t>• FORMS</a:t>
            </a:r>
          </a:p>
          <a:p>
            <a:pPr marL="201168" lvl="1" indent="0">
              <a:buNone/>
            </a:pPr>
            <a:r>
              <a:rPr lang="en-US" sz="1600" b="1" dirty="0"/>
              <a:t>• LISTS</a:t>
            </a:r>
          </a:p>
          <a:p>
            <a:pPr marL="201168" lvl="1" indent="0">
              <a:buNone/>
            </a:pPr>
            <a:r>
              <a:rPr lang="en-US" sz="1600" b="1" dirty="0"/>
              <a:t>• CSS-STYLES</a:t>
            </a:r>
          </a:p>
          <a:p>
            <a:pPr marL="201168" lvl="1" indent="0">
              <a:buNone/>
            </a:pPr>
            <a:r>
              <a:rPr lang="en-US" sz="1600" dirty="0"/>
              <a:t>• CSS SPECIFICITY RULE</a:t>
            </a:r>
          </a:p>
          <a:p>
            <a:pPr marL="201168" lvl="1" indent="0">
              <a:buNone/>
            </a:pPr>
            <a:r>
              <a:rPr lang="en-IN" sz="2400" b="1" dirty="0"/>
              <a:t>•</a:t>
            </a:r>
            <a:r>
              <a:rPr lang="en-IN" sz="1800" b="1" dirty="0"/>
              <a:t>CSS LAYOUTS</a:t>
            </a:r>
            <a:endParaRPr lang="en-US" sz="2400" b="1" dirty="0"/>
          </a:p>
          <a:p>
            <a:pPr marL="201168" lvl="1" indent="0">
              <a:buNone/>
            </a:pPr>
            <a:r>
              <a:rPr lang="en-US" sz="1600" b="1" dirty="0"/>
              <a:t>• PSEUDO CLASSES</a:t>
            </a:r>
          </a:p>
          <a:p>
            <a:pPr marL="201168" lvl="1" indent="0">
              <a:buNone/>
            </a:pPr>
            <a:r>
              <a:rPr lang="en-US" sz="1600" b="1" dirty="0"/>
              <a:t>• CSS-POSITIONS</a:t>
            </a:r>
          </a:p>
          <a:p>
            <a:pPr marL="201168" lvl="1" indent="0">
              <a:buNone/>
            </a:pPr>
            <a:r>
              <a:rPr lang="en-US" sz="1600" b="1" dirty="0"/>
              <a:t>• CSSS-DIMENSIONS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75777BF-BBCF-512E-C109-06D326A9ABEA}"/>
              </a:ext>
            </a:extLst>
          </p:cNvPr>
          <p:cNvSpPr/>
          <p:nvPr/>
        </p:nvSpPr>
        <p:spPr>
          <a:xfrm>
            <a:off x="4355691" y="3179508"/>
            <a:ext cx="1868129" cy="1103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242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7078-B6E4-B7F5-B01D-C46FB523B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680" y="764373"/>
            <a:ext cx="4033520" cy="1293028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B5BC-7DF5-2A3E-E9B7-20E7D9C94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stands for “HYPER TEXT MARKUP LANGUAGE”.</a:t>
            </a:r>
          </a:p>
          <a:p>
            <a:r>
              <a:rPr lang="en-US" dirty="0"/>
              <a:t>HTML latest version is “HTML5.X”.</a:t>
            </a:r>
          </a:p>
          <a:p>
            <a:r>
              <a:rPr lang="en-US" dirty="0"/>
              <a:t>HTML released by “tim berners lee”.</a:t>
            </a:r>
          </a:p>
          <a:p>
            <a:r>
              <a:rPr lang="en-US" dirty="0"/>
              <a:t>HTML to develop webpages.</a:t>
            </a:r>
          </a:p>
          <a:p>
            <a:endParaRPr lang="en-US" dirty="0"/>
          </a:p>
          <a:p>
            <a:r>
              <a:rPr lang="en-US" dirty="0"/>
              <a:t>CSS stands for “CASCADING STYLE SHEET”.</a:t>
            </a:r>
          </a:p>
          <a:p>
            <a:r>
              <a:rPr lang="en-US" dirty="0"/>
              <a:t>CSS used to apply styles.</a:t>
            </a:r>
          </a:p>
          <a:p>
            <a:r>
              <a:rPr lang="en-US" dirty="0"/>
              <a:t>CSS latest version “CSS3.x”.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515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9D11-9865-4BDD-3CF2-7F10F3E2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6807200" cy="1293028"/>
          </a:xfrm>
        </p:spPr>
        <p:txBody>
          <a:bodyPr/>
          <a:lstStyle/>
          <a:p>
            <a:r>
              <a:rPr lang="en-IN" dirty="0"/>
              <a:t>html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129B-7D4E-0595-EA57-66F98943E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dirty="0"/>
              <a:t>1.PAIRED TAGS</a:t>
            </a:r>
          </a:p>
          <a:p>
            <a:pPr marL="0" indent="0">
              <a:buNone/>
            </a:pPr>
            <a:r>
              <a:rPr lang="en-US" dirty="0"/>
              <a:t>	 •It is also called as container tags.</a:t>
            </a:r>
          </a:p>
          <a:p>
            <a:pPr marL="0" indent="0">
              <a:buNone/>
            </a:pPr>
            <a:r>
              <a:rPr lang="en-US" dirty="0"/>
              <a:t>	 •This tag survived with opentag(&lt;) and closedtag(&gt;).</a:t>
            </a:r>
          </a:p>
          <a:p>
            <a:pPr marL="0" indent="0">
              <a:buNone/>
            </a:pPr>
            <a:r>
              <a:rPr lang="en-US" dirty="0"/>
              <a:t>	 •Closing tag starts with forward slash(/).</a:t>
            </a:r>
          </a:p>
          <a:p>
            <a:pPr marL="0" indent="0">
              <a:buNone/>
            </a:pPr>
            <a:r>
              <a:rPr lang="en-US" dirty="0"/>
              <a:t>	 •ex:&lt;html&gt; &lt;/htmL&gt;</a:t>
            </a:r>
          </a:p>
          <a:p>
            <a:pPr marL="0" indent="0">
              <a:buNone/>
            </a:pPr>
            <a:r>
              <a:rPr lang="en-US" dirty="0"/>
              <a:t>	         &lt;body&gt; &lt;/body&gt;…..</a:t>
            </a:r>
          </a:p>
          <a:p>
            <a:pPr marL="0" indent="0">
              <a:buNone/>
            </a:pPr>
            <a:r>
              <a:rPr lang="en-IN" u="sng" dirty="0"/>
              <a:t>2.NON-PAIRED TAGS</a:t>
            </a:r>
          </a:p>
          <a:p>
            <a:pPr marL="0" indent="0">
              <a:buNone/>
            </a:pPr>
            <a:r>
              <a:rPr lang="en-IN" dirty="0"/>
              <a:t>	 </a:t>
            </a:r>
            <a:r>
              <a:rPr lang="en-US" dirty="0"/>
              <a:t>•It is also called as non-container tags.</a:t>
            </a:r>
          </a:p>
          <a:p>
            <a:pPr marL="0" indent="0">
              <a:buNone/>
            </a:pPr>
            <a:r>
              <a:rPr lang="en-US" dirty="0"/>
              <a:t>	 •It contains only open tags.</a:t>
            </a:r>
          </a:p>
          <a:p>
            <a:pPr marL="0" indent="0">
              <a:buNone/>
            </a:pPr>
            <a:r>
              <a:rPr lang="en-US" dirty="0"/>
              <a:t>	 •ex:&lt;img&gt;</a:t>
            </a:r>
          </a:p>
          <a:p>
            <a:pPr marL="0" indent="0">
              <a:buNone/>
            </a:pPr>
            <a:r>
              <a:rPr lang="en-US" dirty="0"/>
              <a:t>	        &lt;br&gt;……	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65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C2FF-A89D-16A3-9AE8-3A7E74D3C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7945120" cy="1293028"/>
          </a:xfrm>
        </p:spPr>
        <p:txBody>
          <a:bodyPr/>
          <a:lstStyle/>
          <a:p>
            <a:r>
              <a:rPr lang="en-US" b="1" dirty="0"/>
              <a:t>Html headings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29335-5565-051F-86D1-A69690423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61310"/>
            <a:ext cx="10820400" cy="4057376"/>
          </a:xfrm>
        </p:spPr>
        <p:txBody>
          <a:bodyPr/>
          <a:lstStyle/>
          <a:p>
            <a:r>
              <a:rPr lang="en-US" dirty="0"/>
              <a:t>HTML supports 6 type of headings….</a:t>
            </a:r>
          </a:p>
          <a:p>
            <a:pPr marL="457200" lvl="1" indent="0">
              <a:buNone/>
            </a:pPr>
            <a:r>
              <a:rPr lang="en-US" dirty="0"/>
              <a:t>1.&lt;h1&gt; &lt;/h1&gt;             main heading(large heading)</a:t>
            </a:r>
          </a:p>
          <a:p>
            <a:pPr marL="457200" lvl="1" indent="0">
              <a:buNone/>
            </a:pPr>
            <a:r>
              <a:rPr lang="en-US" dirty="0"/>
              <a:t>2.&lt;h2&gt; &lt;/h2&gt;             sub heading</a:t>
            </a:r>
          </a:p>
          <a:p>
            <a:pPr marL="457200" lvl="1" indent="0">
              <a:buNone/>
            </a:pPr>
            <a:r>
              <a:rPr lang="en-US" dirty="0"/>
              <a:t>3.&lt;h3&gt; &lt;/h3&gt;              sub heading</a:t>
            </a:r>
          </a:p>
          <a:p>
            <a:pPr marL="457200" lvl="1" indent="0">
              <a:buNone/>
            </a:pPr>
            <a:r>
              <a:rPr lang="en-US" dirty="0"/>
              <a:t>4.&lt;h4&gt; &lt;/h4&gt;        	     sub heading</a:t>
            </a:r>
          </a:p>
          <a:p>
            <a:pPr marL="457200" lvl="1" indent="0">
              <a:buNone/>
            </a:pPr>
            <a:r>
              <a:rPr lang="en-US" dirty="0"/>
              <a:t>5.&lt;h5&gt; &lt;/h5&gt;   	     sub heading</a:t>
            </a:r>
          </a:p>
          <a:p>
            <a:pPr marL="457200" lvl="1" indent="0">
              <a:buNone/>
            </a:pPr>
            <a:r>
              <a:rPr lang="en-US" dirty="0"/>
              <a:t>6.&lt;h6&gt; &lt;/h6     	     small heading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320C83-BB81-5663-AA2D-0FCDE907CA1D}"/>
              </a:ext>
            </a:extLst>
          </p:cNvPr>
          <p:cNvCxnSpPr>
            <a:cxnSpLocks/>
          </p:cNvCxnSpPr>
          <p:nvPr/>
        </p:nvCxnSpPr>
        <p:spPr>
          <a:xfrm>
            <a:off x="2987040" y="2712720"/>
            <a:ext cx="579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6A1794-9F54-3528-3CA7-F345BDD938DA}"/>
              </a:ext>
            </a:extLst>
          </p:cNvPr>
          <p:cNvCxnSpPr>
            <a:cxnSpLocks/>
          </p:cNvCxnSpPr>
          <p:nvPr/>
        </p:nvCxnSpPr>
        <p:spPr>
          <a:xfrm>
            <a:off x="3088640" y="3078481"/>
            <a:ext cx="477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49A3E7-EA61-0259-EC53-8CDE7BB5DA71}"/>
              </a:ext>
            </a:extLst>
          </p:cNvPr>
          <p:cNvCxnSpPr>
            <a:cxnSpLocks/>
          </p:cNvCxnSpPr>
          <p:nvPr/>
        </p:nvCxnSpPr>
        <p:spPr>
          <a:xfrm>
            <a:off x="3185160" y="3429000"/>
            <a:ext cx="477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0A2457-EC07-4588-AFE9-2D80E8CE137C}"/>
              </a:ext>
            </a:extLst>
          </p:cNvPr>
          <p:cNvCxnSpPr>
            <a:cxnSpLocks/>
          </p:cNvCxnSpPr>
          <p:nvPr/>
        </p:nvCxnSpPr>
        <p:spPr>
          <a:xfrm>
            <a:off x="3185160" y="3756660"/>
            <a:ext cx="4775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7682B8-01F9-1292-EC99-1C3AA0280810}"/>
              </a:ext>
            </a:extLst>
          </p:cNvPr>
          <p:cNvCxnSpPr>
            <a:cxnSpLocks/>
          </p:cNvCxnSpPr>
          <p:nvPr/>
        </p:nvCxnSpPr>
        <p:spPr>
          <a:xfrm>
            <a:off x="3185160" y="4069080"/>
            <a:ext cx="477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EF2E06-271B-9EC8-40F7-7E86FD329C9E}"/>
              </a:ext>
            </a:extLst>
          </p:cNvPr>
          <p:cNvCxnSpPr>
            <a:cxnSpLocks/>
          </p:cNvCxnSpPr>
          <p:nvPr/>
        </p:nvCxnSpPr>
        <p:spPr>
          <a:xfrm flipV="1">
            <a:off x="3012440" y="4374263"/>
            <a:ext cx="728980" cy="7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20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DF2D-2F59-97AD-92A3-24F400D6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118" y="764373"/>
            <a:ext cx="6296891" cy="1293028"/>
          </a:xfrm>
        </p:spPr>
        <p:txBody>
          <a:bodyPr/>
          <a:lstStyle/>
          <a:p>
            <a:r>
              <a:rPr lang="en-US" b="1" dirty="0"/>
              <a:t>Html-5 features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2B84-E9ED-E8A1-FDB5-51B7E3EAB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36" y="2194560"/>
            <a:ext cx="12119264" cy="4024125"/>
          </a:xfrm>
        </p:spPr>
        <p:txBody>
          <a:bodyPr/>
          <a:lstStyle/>
          <a:p>
            <a:r>
              <a:rPr lang="en-US" dirty="0"/>
              <a:t>HTML-5  supports application programming interface(API).</a:t>
            </a:r>
          </a:p>
          <a:p>
            <a:pPr marL="457200" lvl="1" indent="0">
              <a:buNone/>
            </a:pPr>
            <a:r>
              <a:rPr lang="en-US" b="1" u="sng" dirty="0"/>
              <a:t>1.Web socket</a:t>
            </a:r>
            <a:r>
              <a:rPr lang="en-US" dirty="0"/>
              <a:t>: It is used to implement chat application.</a:t>
            </a:r>
          </a:p>
          <a:p>
            <a:pPr marL="457200" lvl="1" indent="0">
              <a:buNone/>
            </a:pPr>
            <a:r>
              <a:rPr lang="en-US" b="1" u="sng" dirty="0"/>
              <a:t>2.Giological location API</a:t>
            </a:r>
            <a:r>
              <a:rPr lang="en-US" dirty="0"/>
              <a:t>: It is used to find the object location.</a:t>
            </a:r>
          </a:p>
          <a:p>
            <a:pPr marL="457200" lvl="1" indent="0">
              <a:buNone/>
            </a:pPr>
            <a:r>
              <a:rPr lang="en-US" b="1" u="sng" dirty="0"/>
              <a:t>3.Webworker</a:t>
            </a:r>
            <a:r>
              <a:rPr lang="en-US" dirty="0"/>
              <a:t>: It is used to run tasks parallelly at log by using.</a:t>
            </a:r>
          </a:p>
          <a:p>
            <a:pPr marL="457200" lvl="1" indent="0">
              <a:buNone/>
            </a:pPr>
            <a:r>
              <a:rPr lang="en-US" b="1" u="sng" dirty="0"/>
              <a:t>4.Drag&amp;drop</a:t>
            </a:r>
            <a:r>
              <a:rPr lang="en-US" dirty="0"/>
              <a:t>: it is used to click ,move and hold elements to another place on a webpage.</a:t>
            </a:r>
          </a:p>
          <a:p>
            <a:pPr marL="457200" lvl="1" indent="0">
              <a:buNone/>
            </a:pPr>
            <a:r>
              <a:rPr lang="en-US" b="1" u="sng" dirty="0"/>
              <a:t>5.Graphic supports</a:t>
            </a:r>
            <a:r>
              <a:rPr lang="en-US" dirty="0"/>
              <a:t>: HTML-5 supports both 2D and 3D graphics.</a:t>
            </a:r>
          </a:p>
          <a:p>
            <a:pPr marL="457200" lvl="1" indent="0">
              <a:buNone/>
            </a:pPr>
            <a:r>
              <a:rPr lang="en-US" b="1" u="sng" dirty="0"/>
              <a:t>6.Animations</a:t>
            </a:r>
            <a:r>
              <a:rPr lang="en-US" dirty="0"/>
              <a:t>: HTML-5 supports animations development.</a:t>
            </a:r>
          </a:p>
          <a:p>
            <a:pPr marL="457200" lvl="1" indent="0">
              <a:buNone/>
            </a:pPr>
            <a:r>
              <a:rPr lang="en-US" b="1" u="sng" dirty="0"/>
              <a:t>7.Storages</a:t>
            </a:r>
            <a:r>
              <a:rPr lang="en-US" dirty="0"/>
              <a:t>: It is handled by browser APIs used with javascript.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551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DFA35-E80C-0A35-392D-4407E300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764373"/>
            <a:ext cx="4732116" cy="1293028"/>
          </a:xfrm>
        </p:spPr>
        <p:txBody>
          <a:bodyPr/>
          <a:lstStyle/>
          <a:p>
            <a:r>
              <a:rPr lang="en-US" dirty="0"/>
              <a:t>Html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D32F7-F5D9-CA05-2D2A-228F373D9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" y="1886674"/>
            <a:ext cx="11402028" cy="49713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Opening tag, content and closing tag called as html element.</a:t>
            </a:r>
          </a:p>
          <a:p>
            <a:r>
              <a:rPr lang="en-US" dirty="0"/>
              <a:t>It is also called as “building block of webpage”.</a:t>
            </a:r>
          </a:p>
          <a:p>
            <a:r>
              <a:rPr lang="en-US" dirty="0"/>
              <a:t>It is used to enhance HTML element functionality.</a:t>
            </a:r>
          </a:p>
          <a:p>
            <a:r>
              <a:rPr lang="en-US" dirty="0"/>
              <a:t>It is applicable to opening tag.</a:t>
            </a:r>
          </a:p>
          <a:p>
            <a:r>
              <a:rPr lang="en-US" dirty="0"/>
              <a:t>Attributes are key values pairs. Key &amp; value separated by using “=“.</a:t>
            </a:r>
          </a:p>
          <a:p>
            <a:r>
              <a:rPr lang="en-US" dirty="0"/>
              <a:t>Pairs separated by space(““).</a:t>
            </a:r>
          </a:p>
          <a:p>
            <a:pPr marL="457200" lvl="1" indent="0">
              <a:buNone/>
            </a:pPr>
            <a:r>
              <a:rPr lang="en-US" dirty="0"/>
              <a:t>1.block-level elements:</a:t>
            </a:r>
          </a:p>
          <a:p>
            <a:pPr marL="457200" lvl="1" indent="0">
              <a:buNone/>
            </a:pPr>
            <a:r>
              <a:rPr lang="en-US" dirty="0"/>
              <a:t>	--each element starts with new line.</a:t>
            </a:r>
          </a:p>
          <a:p>
            <a:pPr marL="457200" lvl="1" indent="0">
              <a:buNone/>
            </a:pPr>
            <a:r>
              <a:rPr lang="en-US" dirty="0"/>
              <a:t>	--by default block level elements occupies 100% width.</a:t>
            </a:r>
          </a:p>
          <a:p>
            <a:pPr marL="457200" lvl="1" indent="0">
              <a:buNone/>
            </a:pPr>
            <a:r>
              <a:rPr lang="en-US" dirty="0"/>
              <a:t>	--display:inline-block;</a:t>
            </a:r>
          </a:p>
          <a:p>
            <a:pPr marL="457200" lvl="1" indent="0">
              <a:buNone/>
            </a:pPr>
            <a:r>
              <a:rPr lang="en-US" dirty="0"/>
              <a:t>2.Inline elements:</a:t>
            </a:r>
          </a:p>
          <a:p>
            <a:pPr marL="457200" lvl="1" indent="0">
              <a:buNone/>
            </a:pPr>
            <a:r>
              <a:rPr lang="en-US" dirty="0"/>
              <a:t>	--each element never starts with new line.</a:t>
            </a:r>
          </a:p>
          <a:p>
            <a:pPr marL="457200" lvl="1" indent="0">
              <a:buNone/>
            </a:pPr>
            <a:r>
              <a:rPr lang="en-US" dirty="0"/>
              <a:t>	--occupies only required width.</a:t>
            </a:r>
          </a:p>
          <a:p>
            <a:pPr marL="457200" lvl="1" indent="0">
              <a:buNone/>
            </a:pPr>
            <a:r>
              <a:rPr lang="en-US" dirty="0"/>
              <a:t>	--display:block;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631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F1EC-C0B3-E464-63A9-A03C2A9F8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5959033" cy="1293028"/>
          </a:xfrm>
        </p:spPr>
        <p:txBody>
          <a:bodyPr/>
          <a:lstStyle/>
          <a:p>
            <a:r>
              <a:rPr lang="en-US" dirty="0"/>
              <a:t>Semantic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FA4ED-E2C6-8760-9B3B-43FDD2780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6634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HTML-5 released “new tags”.</a:t>
            </a:r>
          </a:p>
          <a:p>
            <a:r>
              <a:rPr lang="en-US" dirty="0"/>
              <a:t>New tags technically called as semantic elements.</a:t>
            </a:r>
          </a:p>
          <a:p>
            <a:r>
              <a:rPr lang="en-US" dirty="0"/>
              <a:t>Semantic elements uses applications “readability&amp;modularity”.</a:t>
            </a:r>
          </a:p>
          <a:p>
            <a:r>
              <a:rPr lang="en-US" dirty="0"/>
              <a:t>Examples: </a:t>
            </a:r>
          </a:p>
          <a:p>
            <a:pPr marL="457200" lvl="1" indent="0">
              <a:buNone/>
            </a:pPr>
            <a:r>
              <a:rPr lang="en-US" dirty="0"/>
              <a:t>1.&lt;header&gt; &lt;/header&gt;-- display webpage header.</a:t>
            </a:r>
          </a:p>
          <a:p>
            <a:pPr marL="457200" lvl="1" indent="0">
              <a:buNone/>
            </a:pPr>
            <a:r>
              <a:rPr lang="en-US" dirty="0"/>
              <a:t>2.&lt;nav&gt; &lt;/nav&gt;-- display navigation menu.</a:t>
            </a:r>
          </a:p>
          <a:p>
            <a:pPr marL="457200" lvl="1" indent="0">
              <a:buNone/>
            </a:pPr>
            <a:r>
              <a:rPr lang="en-US" dirty="0"/>
              <a:t>3.&lt;aside&gt; &lt;/aside&gt;-- left menu and right menu webpages</a:t>
            </a:r>
          </a:p>
          <a:p>
            <a:pPr marL="457200" lvl="1" indent="0">
              <a:buNone/>
            </a:pPr>
            <a:r>
              <a:rPr lang="en-US" dirty="0"/>
              <a:t>4.&lt;main&gt; &lt;/main&gt;-- main webpage content.</a:t>
            </a:r>
          </a:p>
          <a:p>
            <a:pPr marL="457200" lvl="1" indent="0">
              <a:buNone/>
            </a:pPr>
            <a:r>
              <a:rPr lang="en-US" dirty="0"/>
              <a:t>5.&lt;footer&gt; &lt;/footer&gt;-- web page footer.</a:t>
            </a:r>
          </a:p>
          <a:p>
            <a:pPr marL="457200" lvl="1" indent="0">
              <a:buNone/>
            </a:pPr>
            <a:r>
              <a:rPr lang="en-US" dirty="0"/>
              <a:t>6.&lt;summary&gt; &lt;/summary&gt;--webpage content summary.</a:t>
            </a:r>
          </a:p>
          <a:p>
            <a:pPr marL="457200" lvl="1" indent="0">
              <a:buNone/>
            </a:pPr>
            <a:r>
              <a:rPr lang="en-US" dirty="0"/>
              <a:t>7.&lt;audio&gt; &lt;/audio&gt;--play audios in webpage.</a:t>
            </a:r>
          </a:p>
          <a:p>
            <a:pPr marL="457200" lvl="1" indent="0">
              <a:buNone/>
            </a:pPr>
            <a:r>
              <a:rPr lang="en-US" dirty="0"/>
              <a:t>8.&lt;video&gt; &lt;/video&gt;--play videos in webpage.</a:t>
            </a:r>
          </a:p>
          <a:p>
            <a:pPr marL="457200" lvl="1" indent="0">
              <a:buNone/>
            </a:pPr>
            <a:r>
              <a:rPr lang="en-US" dirty="0"/>
              <a:t>9.&lt;articles&gt; &lt;/articles&gt;--display articles.</a:t>
            </a:r>
          </a:p>
          <a:p>
            <a:pPr marL="457200" lvl="1" indent="0">
              <a:buNone/>
            </a:pPr>
            <a:r>
              <a:rPr lang="en-US" dirty="0"/>
              <a:t>10.&lt;section&gt; &lt;/section&gt;--select portion of webpage.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19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C08B1-FB8B-7FB3-C097-7A804C42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6747164" cy="1293028"/>
          </a:xfrm>
        </p:spPr>
        <p:txBody>
          <a:bodyPr/>
          <a:lstStyle/>
          <a:p>
            <a:r>
              <a:rPr lang="en-IN" b="1" dirty="0"/>
              <a:t>Structure of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9604F-ADA5-F786-D761-92D58ACC4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4109"/>
            <a:ext cx="12115800" cy="5153891"/>
          </a:xfrm>
        </p:spPr>
        <p:txBody>
          <a:bodyPr/>
          <a:lstStyle/>
          <a:p>
            <a:r>
              <a:rPr lang="en-IN" dirty="0"/>
              <a:t>&lt;!DOCTYPE html&gt;---representing HTML version.</a:t>
            </a:r>
          </a:p>
          <a:p>
            <a:r>
              <a:rPr lang="en-IN" dirty="0"/>
              <a:t>&lt;html&gt; &lt;/html&gt;---create root section of webpage.</a:t>
            </a:r>
          </a:p>
          <a:p>
            <a:r>
              <a:rPr lang="en-IN" dirty="0"/>
              <a:t>&lt;head&gt; &lt;/head&gt;---create head section of webpage.</a:t>
            </a:r>
          </a:p>
          <a:p>
            <a:r>
              <a:rPr lang="en-IN" dirty="0"/>
              <a:t>&lt;body&gt; &lt;/body&gt;---create body section of webpage.</a:t>
            </a:r>
          </a:p>
          <a:p>
            <a:pPr marL="0" indent="0" algn="ctr">
              <a:buNone/>
            </a:pPr>
            <a:r>
              <a:rPr lang="en-IN" b="1" u="sng" dirty="0"/>
              <a:t>META TAG</a:t>
            </a:r>
          </a:p>
          <a:p>
            <a:pPr marL="0" indent="0">
              <a:buNone/>
            </a:pPr>
            <a:r>
              <a:rPr lang="en-IN" dirty="0"/>
              <a:t>1.It is used to define meta data. Data about webpage is known as “meta data”.</a:t>
            </a:r>
          </a:p>
          <a:p>
            <a:pPr marL="0" indent="0">
              <a:buNone/>
            </a:pPr>
            <a:r>
              <a:rPr lang="en-IN" dirty="0"/>
              <a:t>2.We will define “metadata” under head section of webpage.</a:t>
            </a:r>
          </a:p>
          <a:p>
            <a:pPr marL="0" indent="0">
              <a:buNone/>
            </a:pPr>
            <a:r>
              <a:rPr lang="en-IN" dirty="0"/>
              <a:t>3. We will define “main contain” under body section of webpage.</a:t>
            </a:r>
          </a:p>
          <a:p>
            <a:pPr marL="0" indent="0">
              <a:buNone/>
            </a:pPr>
            <a:r>
              <a:rPr lang="en-IN" dirty="0"/>
              <a:t>4.It is a non-paired tag, to helps SEO(search engineering optimaization).</a:t>
            </a:r>
          </a:p>
          <a:p>
            <a:pPr marL="0" indent="0">
              <a:buNone/>
            </a:pPr>
            <a:r>
              <a:rPr lang="en-IN" dirty="0"/>
              <a:t>5.This tag controls page behaviour.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81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717B-911A-A0E3-AAF0-B225323BB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3566160" cy="1293028"/>
          </a:xfrm>
        </p:spPr>
        <p:txBody>
          <a:bodyPr/>
          <a:lstStyle/>
          <a:p>
            <a:r>
              <a:rPr lang="en-US" dirty="0"/>
              <a:t>selectors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D8308-4BEE-98F9-F861-1F77D85E0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Selectors are 7 types:</a:t>
            </a:r>
          </a:p>
          <a:p>
            <a:pPr>
              <a:buFont typeface="+mj-lt"/>
              <a:buAutoNum type="arabicPeriod"/>
            </a:pPr>
            <a:r>
              <a:rPr lang="en-US" dirty="0"/>
              <a:t>Grouping of selectors</a:t>
            </a:r>
          </a:p>
          <a:p>
            <a:pPr>
              <a:buFont typeface="+mj-lt"/>
              <a:buAutoNum type="arabicPeriod"/>
            </a:pPr>
            <a:r>
              <a:rPr lang="en-US" dirty="0"/>
              <a:t>ID selector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Selector</a:t>
            </a:r>
          </a:p>
          <a:p>
            <a:pPr>
              <a:buFont typeface="+mj-lt"/>
              <a:buAutoNum type="arabicPeriod"/>
            </a:pPr>
            <a:r>
              <a:rPr lang="en-US" dirty="0"/>
              <a:t>Element Selector</a:t>
            </a:r>
          </a:p>
          <a:p>
            <a:pPr>
              <a:buFont typeface="+mj-lt"/>
              <a:buAutoNum type="arabicPeriod"/>
            </a:pPr>
            <a:r>
              <a:rPr lang="en-US" dirty="0"/>
              <a:t>Universal Selector</a:t>
            </a:r>
          </a:p>
          <a:p>
            <a:pPr>
              <a:buFont typeface="+mj-lt"/>
              <a:buAutoNum type="arabicPeriod"/>
            </a:pPr>
            <a:r>
              <a:rPr lang="en-US" dirty="0"/>
              <a:t>Descendent Selector </a:t>
            </a:r>
          </a:p>
          <a:p>
            <a:pPr>
              <a:buFont typeface="+mj-lt"/>
              <a:buAutoNum type="arabicPeriod"/>
            </a:pPr>
            <a:r>
              <a:rPr lang="en-US" dirty="0"/>
              <a:t>Attribute Selector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000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F34EDD-53F3-0458-8656-4921306FCA7B}"/>
              </a:ext>
            </a:extLst>
          </p:cNvPr>
          <p:cNvSpPr txBox="1"/>
          <p:nvPr/>
        </p:nvSpPr>
        <p:spPr>
          <a:xfrm>
            <a:off x="309880" y="1351508"/>
            <a:ext cx="1157224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Grouping Of Selectors:</a:t>
            </a:r>
          </a:p>
          <a:p>
            <a:pPr marL="0" indent="0">
              <a:buNone/>
            </a:pPr>
            <a:r>
              <a:rPr lang="en-US" b="1" dirty="0"/>
              <a:t>•</a:t>
            </a:r>
            <a:r>
              <a:rPr lang="en-US" sz="1800" dirty="0"/>
              <a:t>Applying style sheets more than one element at a time is called ”grouping of selectors”</a:t>
            </a:r>
            <a:endParaRPr lang="en-US" sz="1800" b="1" dirty="0"/>
          </a:p>
          <a:p>
            <a:pPr marL="0" indent="0">
              <a:buNone/>
            </a:pPr>
            <a:r>
              <a:rPr lang="en-US" b="1" dirty="0"/>
              <a:t>           EX</a:t>
            </a:r>
            <a:r>
              <a:rPr lang="en-US" sz="1800" b="1" dirty="0"/>
              <a:t>:</a:t>
            </a:r>
            <a:r>
              <a:rPr lang="en-US" sz="1800" dirty="0"/>
              <a:t>  h1,p,span{</a:t>
            </a:r>
          </a:p>
          <a:p>
            <a:pPr marL="0" indent="0">
              <a:buNone/>
            </a:pPr>
            <a:r>
              <a:rPr lang="en-US" sz="1800" dirty="0"/>
              <a:t>		                     }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Element selector:</a:t>
            </a:r>
          </a:p>
          <a:p>
            <a:r>
              <a:rPr lang="en-US" sz="2000" b="1" dirty="0"/>
              <a:t> • </a:t>
            </a:r>
            <a:r>
              <a:rPr lang="en-US" sz="1800" dirty="0"/>
              <a:t>It is start with “tag name”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/>
              <a:t>Class Selector: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	</a:t>
            </a:r>
            <a:r>
              <a:rPr lang="en-US" b="1" dirty="0"/>
              <a:t>Cl</a:t>
            </a:r>
            <a:r>
              <a:rPr lang="en-US" sz="1800" dirty="0"/>
              <a:t>ass selector start with “dot (.)”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	Class selector may duplicate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     Class selector had less priority compare to id selector.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ID selector: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It is start with #(hash).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 selector had more priority compare to class selector.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Descendent selector: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also called dependent selector.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 an element inside another element at any levels called as descendent selector.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Universal Selector: </a:t>
            </a:r>
            <a:r>
              <a:rPr lang="en-IN" dirty="0"/>
              <a:t>It is start with *(star).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Attribute Selector: </a:t>
            </a:r>
            <a:r>
              <a:rPr lang="en-IN" dirty="0"/>
              <a:t>Attribute selector is used to select HTML elements based on their attributes.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2991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D73A-8BF0-3841-D4AD-EB2CB6F5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5033058" cy="1293028"/>
          </a:xfrm>
        </p:spPr>
        <p:txBody>
          <a:bodyPr/>
          <a:lstStyle/>
          <a:p>
            <a:r>
              <a:rPr lang="en-US" dirty="0"/>
              <a:t>Paragraphs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659A-C738-651A-396F-E5CBEB014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24891"/>
            <a:ext cx="12192000" cy="51331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&lt;p&gt; &lt;/p&gt; tag is used to display paragraphs.</a:t>
            </a:r>
          </a:p>
          <a:p>
            <a:r>
              <a:rPr lang="en-US" dirty="0"/>
              <a:t>&lt;p&gt; &lt;/p&gt; tag is block level element. </a:t>
            </a:r>
          </a:p>
          <a:p>
            <a:r>
              <a:rPr lang="en-US" dirty="0"/>
              <a:t>P{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IN" dirty="0"/>
              <a:t> }            element selector   </a:t>
            </a:r>
          </a:p>
          <a:p>
            <a:pPr marL="0" indent="0">
              <a:buNone/>
            </a:pPr>
            <a:r>
              <a:rPr lang="en-IN" dirty="0"/>
              <a:t>	&lt;p&gt;</a:t>
            </a:r>
          </a:p>
          <a:p>
            <a:pPr marL="0" indent="0">
              <a:buNone/>
            </a:pPr>
            <a:r>
              <a:rPr lang="en-IN" dirty="0"/>
              <a:t>	&lt;/p&gt;                  dynamic selector</a:t>
            </a:r>
          </a:p>
          <a:p>
            <a:pPr marL="0" indent="0" algn="ctr">
              <a:buNone/>
            </a:pPr>
            <a:r>
              <a:rPr lang="en-IN" b="1" u="sng" dirty="0"/>
              <a:t>Anchor element</a:t>
            </a:r>
          </a:p>
          <a:p>
            <a:pPr marL="0" indent="0">
              <a:buNone/>
            </a:pPr>
            <a:r>
              <a:rPr lang="en-IN" b="1" dirty="0"/>
              <a:t>•&lt;a&gt; &lt;/a&gt; tag, is used to create “hyper links”. It is inline element.</a:t>
            </a:r>
          </a:p>
          <a:p>
            <a:pPr marL="0" indent="0">
              <a:buNone/>
            </a:pPr>
            <a:r>
              <a:rPr lang="en-IN" b="1" dirty="0"/>
              <a:t>• This tag used to navigate from one webpage to another webpage.</a:t>
            </a:r>
          </a:p>
          <a:p>
            <a:pPr marL="0" indent="0">
              <a:buNone/>
            </a:pPr>
            <a:r>
              <a:rPr lang="en-IN" b="1" dirty="0"/>
              <a:t>•This tag also used to open external websites and send emails.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b="1" u="sng" dirty="0"/>
              <a:t>Attributes:</a:t>
            </a:r>
            <a:r>
              <a:rPr lang="en-IN" b="1" dirty="0"/>
              <a:t> </a:t>
            </a:r>
          </a:p>
          <a:p>
            <a:pPr marL="0" indent="0">
              <a:buNone/>
            </a:pPr>
            <a:r>
              <a:rPr lang="en-IN" b="1" dirty="0"/>
              <a:t>1.href--used to refer target location(path).</a:t>
            </a:r>
          </a:p>
          <a:p>
            <a:pPr marL="0" indent="0">
              <a:buNone/>
            </a:pPr>
            <a:r>
              <a:rPr lang="en-IN" b="1" dirty="0"/>
              <a:t>2.target=“___blank”—used to open new tab in browser.</a:t>
            </a:r>
          </a:p>
          <a:p>
            <a:pPr marL="0" indent="0">
              <a:buNone/>
            </a:pPr>
            <a:endParaRPr lang="en-US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79E902B-1CC2-FE69-0F99-B5EFB7A0350E}"/>
              </a:ext>
            </a:extLst>
          </p:cNvPr>
          <p:cNvCxnSpPr>
            <a:cxnSpLocks/>
          </p:cNvCxnSpPr>
          <p:nvPr/>
        </p:nvCxnSpPr>
        <p:spPr>
          <a:xfrm>
            <a:off x="874414" y="3178172"/>
            <a:ext cx="6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E11C75-25F1-7EB6-3E2C-47494E8F8EC3}"/>
              </a:ext>
            </a:extLst>
          </p:cNvPr>
          <p:cNvCxnSpPr>
            <a:cxnSpLocks/>
          </p:cNvCxnSpPr>
          <p:nvPr/>
        </p:nvCxnSpPr>
        <p:spPr>
          <a:xfrm>
            <a:off x="1807580" y="4025228"/>
            <a:ext cx="10880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912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F4B6-8308-593A-A5BD-F6CFEE4C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2865120" cy="1293028"/>
          </a:xfrm>
        </p:spPr>
        <p:txBody>
          <a:bodyPr/>
          <a:lstStyle/>
          <a:p>
            <a:r>
              <a:rPr lang="en-US" dirty="0"/>
              <a:t>divisions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CC282-4621-0D27-C140-53A69AB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DIVISIONS:</a:t>
            </a:r>
          </a:p>
          <a:p>
            <a:r>
              <a:rPr lang="en-US" sz="2400" dirty="0"/>
              <a:t>It is used to divide webpages into multiple sections </a:t>
            </a:r>
          </a:p>
          <a:p>
            <a:r>
              <a:rPr lang="en-US" sz="2400" dirty="0"/>
              <a:t>&lt;div&gt;&lt;/div&gt; tag used to create divisions</a:t>
            </a:r>
          </a:p>
          <a:p>
            <a:r>
              <a:rPr lang="en-US" sz="2400" dirty="0"/>
              <a:t>&lt;div&gt;&lt;/div&gt; tag is a block level element</a:t>
            </a:r>
          </a:p>
          <a:p>
            <a:endParaRPr lang="en-US" sz="2400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DF68C4-6C7C-3061-577C-0BE140A5B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95974"/>
              </p:ext>
            </p:extLst>
          </p:nvPr>
        </p:nvGraphicFramePr>
        <p:xfrm>
          <a:off x="2032000" y="4378960"/>
          <a:ext cx="4064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9033633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&lt;div&gt; &lt;/div&gt;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078707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&lt;div&gt; &lt;/div&gt;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13697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&lt;div&gt; &lt;/div&gt;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49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139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F748-6635-828B-88D1-ABB30214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3748268" cy="1293028"/>
          </a:xfrm>
        </p:spPr>
        <p:txBody>
          <a:bodyPr/>
          <a:lstStyle/>
          <a:p>
            <a:r>
              <a:rPr lang="en-US" b="1" dirty="0"/>
              <a:t>images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16179-A8D9-6E46-0B85-118B3D57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17226"/>
            <a:ext cx="10820400" cy="4401460"/>
          </a:xfrm>
        </p:spPr>
        <p:txBody>
          <a:bodyPr/>
          <a:lstStyle/>
          <a:p>
            <a:r>
              <a:rPr lang="en-US" dirty="0"/>
              <a:t>&lt;img&gt; tag is used to display images.</a:t>
            </a:r>
          </a:p>
          <a:p>
            <a:r>
              <a:rPr lang="en-US" dirty="0"/>
              <a:t>&lt;img&gt; tag is inline element. It is non-paired tag.</a:t>
            </a:r>
          </a:p>
          <a:p>
            <a:pPr marL="0" indent="0">
              <a:buNone/>
            </a:pPr>
            <a:r>
              <a:rPr lang="en-US" b="1" u="sng" dirty="0"/>
              <a:t>ATTRUBUTES:</a:t>
            </a:r>
          </a:p>
          <a:p>
            <a:pPr marL="0" indent="0">
              <a:buNone/>
            </a:pPr>
            <a:r>
              <a:rPr lang="en-US" b="1" u="sng" dirty="0"/>
              <a:t>1.width</a:t>
            </a:r>
            <a:r>
              <a:rPr lang="en-US" b="1" dirty="0"/>
              <a:t>: it is used to define image width.</a:t>
            </a:r>
          </a:p>
          <a:p>
            <a:pPr marL="0" indent="0">
              <a:buNone/>
            </a:pPr>
            <a:r>
              <a:rPr lang="en-US" b="1" u="sng" dirty="0"/>
              <a:t>2.height</a:t>
            </a:r>
            <a:r>
              <a:rPr lang="en-US" b="1" dirty="0"/>
              <a:t>: it is used to define image height.</a:t>
            </a:r>
          </a:p>
          <a:p>
            <a:pPr marL="0" indent="0">
              <a:buNone/>
            </a:pPr>
            <a:r>
              <a:rPr lang="en-US" b="1" u="sng" dirty="0"/>
              <a:t>3.source</a:t>
            </a:r>
            <a:r>
              <a:rPr lang="en-US" b="1" dirty="0"/>
              <a:t>(src): it is used to refer image path.</a:t>
            </a:r>
          </a:p>
          <a:p>
            <a:pPr marL="0" indent="0">
              <a:buNone/>
            </a:pPr>
            <a:r>
              <a:rPr lang="en-US" b="1" u="sng" dirty="0"/>
              <a:t>4.Alt</a:t>
            </a:r>
            <a:r>
              <a:rPr lang="en-US" b="1" dirty="0"/>
              <a:t>: alt stands for “alternative text”.</a:t>
            </a:r>
          </a:p>
          <a:p>
            <a:pPr marL="0" indent="0">
              <a:buNone/>
            </a:pPr>
            <a:r>
              <a:rPr lang="en-US" b="1" dirty="0"/>
              <a:t>     {note: if image display fails, automatically alternative text will display.}</a:t>
            </a:r>
          </a:p>
          <a:p>
            <a:pPr marL="0" indent="0">
              <a:buNone/>
            </a:pPr>
            <a:endParaRPr lang="en-US" u="sng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604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E98D-6ECF-C3E5-4B2A-6575A16E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3027680" cy="1293028"/>
          </a:xfrm>
        </p:spPr>
        <p:txBody>
          <a:bodyPr/>
          <a:lstStyle/>
          <a:p>
            <a:r>
              <a:rPr lang="en-US" dirty="0"/>
              <a:t>tables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BAE5D-4B97-C2C2-23BC-19DD4E715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50720"/>
            <a:ext cx="12120880" cy="490728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Tables: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collection of rows and  columns is called tables.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/>
              <a:t>Tags: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&lt;tables&gt;&lt;/table&gt; used to display tables.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&lt;tr&gt;&lt;/tr&gt; used to create table rows.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&lt;th&gt;&lt;/th&gt; used to display table headings ,by default table headings in first row.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&lt;td&gt;&lt;/td&gt; used to display tables cell data.</a:t>
            </a:r>
          </a:p>
          <a:p>
            <a:pPr marL="0" indent="0">
              <a:buNone/>
            </a:pPr>
            <a:r>
              <a:rPr lang="en-US" sz="2400" b="1" dirty="0"/>
              <a:t>Syntax:</a:t>
            </a:r>
          </a:p>
          <a:p>
            <a:pPr marL="0" indent="0">
              <a:buNone/>
            </a:pPr>
            <a:r>
              <a:rPr lang="en-IN" sz="2400" dirty="0"/>
              <a:t>&lt;table&gt;</a:t>
            </a:r>
          </a:p>
          <a:p>
            <a:pPr marL="0" indent="0">
              <a:buNone/>
            </a:pPr>
            <a:r>
              <a:rPr lang="en-IN" sz="2400" dirty="0"/>
              <a:t>	&lt;th&gt;</a:t>
            </a:r>
          </a:p>
          <a:p>
            <a:pPr marL="0" indent="0">
              <a:buNone/>
            </a:pPr>
            <a:r>
              <a:rPr lang="en-IN" sz="2400" dirty="0"/>
              <a:t>	        &lt;td&gt;&lt;/td&gt;</a:t>
            </a:r>
          </a:p>
          <a:p>
            <a:pPr marL="0" indent="0">
              <a:buNone/>
            </a:pPr>
            <a:r>
              <a:rPr lang="en-IN" sz="2400" dirty="0"/>
              <a:t>	&lt;/th&gt;</a:t>
            </a:r>
          </a:p>
          <a:p>
            <a:pPr marL="0" indent="0">
              <a:buNone/>
            </a:pPr>
            <a:r>
              <a:rPr lang="en-IN" sz="2400" dirty="0"/>
              <a:t>&lt;/table&gt;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380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1687-DA52-9E84-989A-20F6A5C4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4612640" cy="769787"/>
          </a:xfrm>
        </p:spPr>
        <p:txBody>
          <a:bodyPr/>
          <a:lstStyle/>
          <a:p>
            <a:r>
              <a:rPr lang="en-US" sz="3200" dirty="0"/>
              <a:t>Table 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8C44C-170A-00E4-782E-11FEA2DF5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" y="1452880"/>
            <a:ext cx="12120880" cy="540512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Attributes:</a:t>
            </a:r>
          </a:p>
          <a:p>
            <a:pPr marL="0" indent="0">
              <a:buNone/>
            </a:pPr>
            <a:r>
              <a:rPr lang="en-US" sz="2400" dirty="0"/>
              <a:t>1.Border:-used to draw border to the table</a:t>
            </a:r>
          </a:p>
          <a:p>
            <a:pPr marL="0" indent="0">
              <a:buNone/>
            </a:pPr>
            <a:r>
              <a:rPr lang="en-US" sz="2400" dirty="0"/>
              <a:t>	EX: border=“1”</a:t>
            </a:r>
          </a:p>
          <a:p>
            <a:pPr>
              <a:buAutoNum type="arabicPeriod" startAt="2"/>
            </a:pPr>
            <a:r>
              <a:rPr lang="en-IN" sz="2400" dirty="0"/>
              <a:t>align:- “left”/”center”/”Right” used to align the table. left is the default align.</a:t>
            </a:r>
          </a:p>
          <a:p>
            <a:pPr marL="0" indent="0">
              <a:buNone/>
            </a:pPr>
            <a:r>
              <a:rPr lang="en-IN" sz="2400" dirty="0"/>
              <a:t>      EX: align=“center”</a:t>
            </a:r>
          </a:p>
          <a:p>
            <a:pPr>
              <a:buAutoNum type="arabicPeriod" startAt="3"/>
            </a:pPr>
            <a:r>
              <a:rPr lang="en-IN" sz="2400" dirty="0"/>
              <a:t>cellpadding: Space around the table cellpadding</a:t>
            </a:r>
          </a:p>
          <a:p>
            <a:pPr marL="0" indent="0">
              <a:buNone/>
            </a:pPr>
            <a:r>
              <a:rPr lang="en-IN" sz="2400" dirty="0"/>
              <a:t>	EX: cellpadding=“10”</a:t>
            </a:r>
          </a:p>
          <a:p>
            <a:pPr>
              <a:buAutoNum type="arabicPeriod" startAt="4"/>
            </a:pPr>
            <a:r>
              <a:rPr lang="en-IN" sz="2400" dirty="0"/>
              <a:t>cellspacing: Space between table cell called as “cellspacing”</a:t>
            </a:r>
          </a:p>
          <a:p>
            <a:pPr marL="0" indent="0">
              <a:buNone/>
            </a:pPr>
            <a:r>
              <a:rPr lang="en-IN" sz="2400" dirty="0"/>
              <a:t>	EX: cellspacing=“10”</a:t>
            </a:r>
          </a:p>
          <a:p>
            <a:pPr marL="0" indent="0">
              <a:buNone/>
            </a:pPr>
            <a:r>
              <a:rPr lang="en-US" sz="2400" dirty="0"/>
              <a:t>5.colspan: used to merge cells based on columns(horizontally)</a:t>
            </a:r>
          </a:p>
          <a:p>
            <a:pPr marL="0" indent="0">
              <a:buNone/>
            </a:pPr>
            <a:r>
              <a:rPr lang="en-US" sz="2400" dirty="0"/>
              <a:t>	EX: colspan=“2”</a:t>
            </a:r>
          </a:p>
          <a:p>
            <a:pPr marL="0" indent="0">
              <a:buNone/>
            </a:pPr>
            <a:r>
              <a:rPr lang="en-US" sz="2400" dirty="0"/>
              <a:t>6.rowspan: used to merge cells based on rows(vertically)</a:t>
            </a:r>
          </a:p>
          <a:p>
            <a:pPr marL="0" indent="0">
              <a:buNone/>
            </a:pPr>
            <a:r>
              <a:rPr lang="en-US" sz="2400" dirty="0"/>
              <a:t>	EX: rowspan=“2”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5289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965C-871E-A85E-D2A6-81ADA074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1" y="727364"/>
            <a:ext cx="2923308" cy="1330037"/>
          </a:xfrm>
        </p:spPr>
        <p:txBody>
          <a:bodyPr/>
          <a:lstStyle/>
          <a:p>
            <a:r>
              <a:rPr lang="en-US" dirty="0"/>
              <a:t>forms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B6B8-2E8B-D673-5AF3-C910041B6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762124"/>
            <a:ext cx="11458575" cy="509587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Forms: </a:t>
            </a:r>
            <a:r>
              <a:rPr lang="en-US" sz="2400" dirty="0"/>
              <a:t>Collection of related data called as forms.</a:t>
            </a:r>
          </a:p>
          <a:p>
            <a:pPr marL="0" indent="0">
              <a:buNone/>
            </a:pPr>
            <a:r>
              <a:rPr lang="en-US" sz="2400" dirty="0"/>
              <a:t>	EX: login Form</a:t>
            </a:r>
          </a:p>
          <a:p>
            <a:pPr marL="0" indent="0">
              <a:buNone/>
            </a:pPr>
            <a:r>
              <a:rPr lang="en-US" sz="2400" dirty="0"/>
              <a:t>	      registration Form</a:t>
            </a:r>
          </a:p>
          <a:p>
            <a:pPr marL="0" indent="0">
              <a:buNone/>
            </a:pPr>
            <a:r>
              <a:rPr lang="en-US" sz="2400" dirty="0"/>
              <a:t>	      enrollment Form…</a:t>
            </a:r>
          </a:p>
          <a:p>
            <a:pPr marL="0" indent="0">
              <a:buNone/>
            </a:pPr>
            <a:r>
              <a:rPr lang="en-US" sz="2400" dirty="0"/>
              <a:t>Tag:&lt;form&gt; &lt;/form&gt;</a:t>
            </a:r>
          </a:p>
          <a:p>
            <a:pPr marL="0" indent="0">
              <a:buNone/>
            </a:pPr>
            <a:r>
              <a:rPr lang="en-US" sz="2400" dirty="0"/>
              <a:t>				</a:t>
            </a:r>
            <a:r>
              <a:rPr lang="en-US" sz="2400" b="1" u="sng" dirty="0"/>
              <a:t>…Attributes…</a:t>
            </a:r>
          </a:p>
          <a:p>
            <a:pPr marL="0" indent="0">
              <a:buNone/>
            </a:pPr>
            <a:r>
              <a:rPr lang="en-US" sz="2400" dirty="0"/>
              <a:t>    &lt;form action=“ ” method=“ “ name=“ “ onsubmit=“ “ onreset=“ “&gt;&lt;/form&gt;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b="1" u="sng" dirty="0"/>
              <a:t>Action:</a:t>
            </a:r>
            <a:r>
              <a:rPr lang="en-US" sz="2400" dirty="0"/>
              <a:t> The attribute used to connect to backend.</a:t>
            </a:r>
          </a:p>
          <a:p>
            <a:pPr marL="457200" indent="-457200">
              <a:buAutoNum type="arabicPeriod"/>
            </a:pPr>
            <a:r>
              <a:rPr lang="en-US" sz="2400" b="1" u="sng" dirty="0"/>
              <a:t>Method</a:t>
            </a:r>
            <a:r>
              <a:rPr lang="en-US" sz="2400" dirty="0"/>
              <a:t>: It supprts four methods. 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dirty="0"/>
              <a:t>GET: Used to read data from backend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dirty="0"/>
              <a:t>POST: used to send data to backend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dirty="0"/>
              <a:t>PUT: used to update backend data</a:t>
            </a:r>
          </a:p>
          <a:p>
            <a:pPr marL="1200150" lvl="2" indent="-285750">
              <a:buFont typeface="+mj-lt"/>
              <a:buAutoNum type="romanLcPeriod"/>
            </a:pPr>
            <a:r>
              <a:rPr lang="en-US" dirty="0"/>
              <a:t>Delete: used to Delete backend data</a:t>
            </a:r>
          </a:p>
          <a:p>
            <a:pPr marL="0" indent="0">
              <a:buNone/>
            </a:pPr>
            <a:endParaRPr lang="en-US" sz="1400" dirty="0"/>
          </a:p>
          <a:p>
            <a:pPr marL="1200150" lvl="2" indent="-285750">
              <a:buFont typeface="+mj-lt"/>
              <a:buAutoNum type="romanLcPeriod"/>
            </a:pPr>
            <a:endParaRPr lang="en-IN" dirty="0"/>
          </a:p>
          <a:p>
            <a:pPr marL="0" indent="0">
              <a:buNone/>
            </a:pPr>
            <a:r>
              <a:rPr lang="en-US" sz="2400" dirty="0"/>
              <a:t>       		    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63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0CAB26-209B-E190-FAD5-0214D75C7985}"/>
              </a:ext>
            </a:extLst>
          </p:cNvPr>
          <p:cNvSpPr txBox="1"/>
          <p:nvPr/>
        </p:nvSpPr>
        <p:spPr>
          <a:xfrm>
            <a:off x="571500" y="1876068"/>
            <a:ext cx="116205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3</a:t>
            </a:r>
            <a:r>
              <a:rPr lang="en-US" sz="1800" b="1" dirty="0"/>
              <a:t>. </a:t>
            </a:r>
            <a:r>
              <a:rPr lang="en-US" sz="1800" b="1" u="sng" dirty="0"/>
              <a:t>name</a:t>
            </a:r>
            <a:r>
              <a:rPr lang="en-US" dirty="0"/>
              <a:t>: </a:t>
            </a:r>
            <a:r>
              <a:rPr lang="en-US" sz="1800" dirty="0"/>
              <a:t>name attribute is used to assign logical name to the form.</a:t>
            </a:r>
          </a:p>
          <a:p>
            <a:pPr marL="0" indent="0">
              <a:buNone/>
            </a:pPr>
            <a:r>
              <a:rPr lang="en-US" sz="1800" dirty="0"/>
              <a:t>	EX: name=regform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sz="1800" dirty="0"/>
              <a:t>. </a:t>
            </a:r>
            <a:r>
              <a:rPr lang="en-US" sz="1800" b="1" u="sng" dirty="0"/>
              <a:t>onsubmit</a:t>
            </a:r>
            <a:r>
              <a:rPr lang="en-US" sz="1800" dirty="0"/>
              <a:t>: onsubmit attribute is used to handle submit event</a:t>
            </a:r>
          </a:p>
          <a:p>
            <a:pPr marL="0" indent="0">
              <a:buNone/>
            </a:pPr>
            <a:r>
              <a:rPr lang="en-US" sz="1800" dirty="0"/>
              <a:t>	EX: onsubmit=“register( )”</a:t>
            </a:r>
          </a:p>
          <a:p>
            <a:r>
              <a:rPr lang="en-US" sz="1800" dirty="0"/>
              <a:t>	 </a:t>
            </a:r>
            <a:r>
              <a:rPr lang="en-US" dirty="0"/>
              <a:t>•</a:t>
            </a:r>
            <a:r>
              <a:rPr lang="en-US" sz="1800" dirty="0"/>
              <a:t> when ever we click submit button automatically</a:t>
            </a:r>
            <a:r>
              <a:rPr lang="en-US" dirty="0"/>
              <a:t> </a:t>
            </a:r>
            <a:r>
              <a:rPr lang="en-US" sz="1800" dirty="0"/>
              <a:t>register function will execute  in JavaScript.</a:t>
            </a:r>
          </a:p>
          <a:p>
            <a:pPr marL="0" indent="0">
              <a:buNone/>
            </a:pPr>
            <a:r>
              <a:rPr lang="en-US" dirty="0"/>
              <a:t>5</a:t>
            </a:r>
            <a:r>
              <a:rPr lang="en-US" sz="1800" dirty="0"/>
              <a:t>.  </a:t>
            </a:r>
            <a:r>
              <a:rPr lang="en-US" sz="1800" b="1" u="sng" dirty="0"/>
              <a:t>onreset</a:t>
            </a:r>
            <a:r>
              <a:rPr lang="en-US" sz="1800" b="1" dirty="0"/>
              <a:t>: </a:t>
            </a:r>
            <a:r>
              <a:rPr lang="en-US" sz="1800" dirty="0"/>
              <a:t>onreset attribute used to handle reset event</a:t>
            </a:r>
          </a:p>
          <a:p>
            <a:pPr marL="0" indent="0">
              <a:buNone/>
            </a:pPr>
            <a:r>
              <a:rPr lang="en-US" sz="1800" dirty="0"/>
              <a:t>	EX: onreset=“cancel( )”</a:t>
            </a:r>
          </a:p>
          <a:p>
            <a:pPr marL="0" indent="0">
              <a:buNone/>
            </a:pPr>
            <a:r>
              <a:rPr lang="en-US" sz="1800" dirty="0"/>
              <a:t>	    •when ever we click submit button, automatically “cancel” function will execute in JavaScript.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5376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1838-2A49-120C-266B-761C1CE1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3667125" cy="1293028"/>
          </a:xfrm>
        </p:spPr>
        <p:txBody>
          <a:bodyPr>
            <a:normAutofit/>
          </a:bodyPr>
          <a:lstStyle/>
          <a:p>
            <a:r>
              <a:rPr lang="en-US" sz="2800" b="1" dirty="0"/>
              <a:t>Form controls</a:t>
            </a:r>
            <a:endParaRPr lang="en-IN" sz="28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4C7E69-706C-47CB-C529-913921DDF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7351"/>
            <a:ext cx="12296775" cy="51339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b="1" u="sng" dirty="0"/>
              <a:t>Radio Button</a:t>
            </a:r>
            <a:r>
              <a:rPr lang="en-US" dirty="0"/>
              <a:t>: single selection controls called as Radio buttons</a:t>
            </a:r>
          </a:p>
          <a:p>
            <a:pPr marL="0" indent="0">
              <a:buNone/>
            </a:pPr>
            <a:r>
              <a:rPr lang="en-US" dirty="0"/>
              <a:t>             male              female</a:t>
            </a:r>
          </a:p>
          <a:p>
            <a:pPr marL="0" indent="0">
              <a:buNone/>
            </a:pPr>
            <a:r>
              <a:rPr lang="en-US" dirty="0"/>
              <a:t>          &lt;input type=“radio” name=“gender” value=“male”&gt; male</a:t>
            </a:r>
          </a:p>
          <a:p>
            <a:pPr marL="0" indent="0">
              <a:buNone/>
            </a:pPr>
            <a:r>
              <a:rPr lang="en-US" dirty="0"/>
              <a:t>          &lt;input type=“radio” name=“gender” value=“female”&gt; female</a:t>
            </a:r>
          </a:p>
          <a:p>
            <a:pPr marL="0" indent="0">
              <a:buNone/>
            </a:pPr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u="sng" dirty="0"/>
              <a:t>Checkbox</a:t>
            </a:r>
            <a:r>
              <a:rPr lang="en-US" dirty="0"/>
              <a:t>: Multiselection controls called checkbox.</a:t>
            </a:r>
          </a:p>
          <a:p>
            <a:pPr marL="0" indent="0">
              <a:buNone/>
            </a:pPr>
            <a:r>
              <a:rPr lang="en-US" dirty="0"/>
              <a:t>	c	c++</a:t>
            </a:r>
          </a:p>
          <a:p>
            <a:pPr marL="0" indent="0">
              <a:buNone/>
            </a:pPr>
            <a:r>
              <a:rPr lang="en-US" dirty="0"/>
              <a:t>	&lt;input type=“checkbox” name=“language” value=“c”&gt;c language</a:t>
            </a:r>
          </a:p>
          <a:p>
            <a:pPr marL="0" indent="0">
              <a:buNone/>
            </a:pPr>
            <a:r>
              <a:rPr lang="en-US" dirty="0"/>
              <a:t>            &lt;input type=“checkbox” name=“language” value=“c++”&gt;c++ language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IN" dirty="0"/>
              <a:t> &lt;input type=“submit” value=“Register”&gt;</a:t>
            </a:r>
          </a:p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u="sng" dirty="0"/>
              <a:t>Submit</a:t>
            </a:r>
            <a:r>
              <a:rPr lang="en-US" b="1" dirty="0"/>
              <a:t>:</a:t>
            </a:r>
            <a:r>
              <a:rPr lang="en-US" dirty="0"/>
              <a:t> A submit button sends from data to a server for processing.</a:t>
            </a:r>
          </a:p>
          <a:p>
            <a:pPr marL="0" indent="0">
              <a:buNone/>
            </a:pPr>
            <a:r>
              <a:rPr lang="en-IN" dirty="0"/>
              <a:t>	&lt;input type=“submit” value=“Register”&gt;</a:t>
            </a:r>
          </a:p>
          <a:p>
            <a:pPr marL="0" indent="0">
              <a:buNone/>
            </a:pPr>
            <a:r>
              <a:rPr lang="en-IN" b="1" dirty="0"/>
              <a:t> .</a:t>
            </a:r>
            <a:r>
              <a:rPr lang="en-IN" b="1" u="sng" dirty="0"/>
              <a:t>Reset</a:t>
            </a:r>
            <a:r>
              <a:rPr lang="en-IN" b="1" dirty="0"/>
              <a:t>: </a:t>
            </a:r>
            <a:r>
              <a:rPr lang="en-IN" dirty="0"/>
              <a:t>A reset button clears all the input field in a form and restores them to their default values.</a:t>
            </a:r>
          </a:p>
          <a:p>
            <a:pPr marL="0" indent="0">
              <a:buNone/>
            </a:pPr>
            <a:r>
              <a:rPr lang="en-IN" dirty="0"/>
              <a:t>	 &lt;input type=“reset” value=“cancel”&gt;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5687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BA169-559A-ED38-0F14-5600F2267FEB}"/>
              </a:ext>
            </a:extLst>
          </p:cNvPr>
          <p:cNvSpPr txBox="1"/>
          <p:nvPr/>
        </p:nvSpPr>
        <p:spPr>
          <a:xfrm>
            <a:off x="1" y="1859340"/>
            <a:ext cx="12801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u="sng" dirty="0"/>
              <a:t>4. Textarea</a:t>
            </a:r>
            <a:r>
              <a:rPr lang="en-US" b="1" dirty="0"/>
              <a:t>:</a:t>
            </a:r>
            <a:r>
              <a:rPr lang="en-US" dirty="0"/>
              <a:t>  the &lt;textarea&gt;tag is used  to create a multi-line text input field.</a:t>
            </a:r>
          </a:p>
          <a:p>
            <a:pPr marL="0" indent="0">
              <a:buNone/>
            </a:pPr>
            <a:r>
              <a:rPr lang="en-US" b="1" dirty="0"/>
              <a:t>Attributes:</a:t>
            </a:r>
            <a:r>
              <a:rPr lang="en-US" dirty="0"/>
              <a:t> </a:t>
            </a:r>
            <a:r>
              <a:rPr lang="en-US" b="1" dirty="0"/>
              <a:t>		</a:t>
            </a:r>
          </a:p>
          <a:p>
            <a:pPr marL="0" indent="0">
              <a:buNone/>
            </a:pPr>
            <a:r>
              <a:rPr lang="en-US" sz="1400" b="1" dirty="0"/>
              <a:t>      1.Name</a:t>
            </a:r>
            <a:r>
              <a:rPr lang="en-US" b="1" dirty="0"/>
              <a:t>: </a:t>
            </a:r>
            <a:r>
              <a:rPr lang="en-US" dirty="0"/>
              <a:t>used to identify the textarea when the form is submitted</a:t>
            </a:r>
          </a:p>
          <a:p>
            <a:pPr marL="0" indent="0">
              <a:buNone/>
            </a:pPr>
            <a:r>
              <a:rPr lang="en-US" b="1" dirty="0"/>
              <a:t>     2.Rows:</a:t>
            </a:r>
            <a:r>
              <a:rPr lang="en-US" dirty="0"/>
              <a:t> Specifies the number of visible text lines.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 3.cols: </a:t>
            </a:r>
            <a:r>
              <a:rPr lang="en-US" dirty="0"/>
              <a:t>Specifies the visible width</a:t>
            </a:r>
          </a:p>
          <a:p>
            <a:pPr marL="0" indent="0">
              <a:buNone/>
            </a:pPr>
            <a:r>
              <a:rPr lang="en-US" b="1" dirty="0"/>
              <a:t>  Syntax: </a:t>
            </a:r>
            <a:r>
              <a:rPr lang="en-US" dirty="0"/>
              <a:t>&lt;textarea name=“ “ cols=“ “ rows=“ “&gt;&lt;/textarea&gt;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5. Drop-Down</a:t>
            </a:r>
            <a:r>
              <a:rPr lang="en-US" b="1" dirty="0"/>
              <a:t>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drop-down list in HTML is created using the &lt;select&gt;tag.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commonly used in forms(for example: selecting country,  gender, course,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&lt;select&gt; create the drop-down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&lt;option&gt; populate the option to drop-down.</a:t>
            </a:r>
          </a:p>
          <a:p>
            <a:r>
              <a:rPr lang="en-US" dirty="0"/>
              <a:t>   &lt;select name=“country”&gt;</a:t>
            </a:r>
          </a:p>
          <a:p>
            <a:r>
              <a:rPr lang="en-US" dirty="0"/>
              <a:t>	&lt;option value=“ “&gt;select country&lt;/option&gt;</a:t>
            </a:r>
          </a:p>
          <a:p>
            <a:r>
              <a:rPr lang="en-US" dirty="0"/>
              <a:t>	&lt;option value=“ind “&gt;india&lt;/option&gt;</a:t>
            </a:r>
          </a:p>
          <a:p>
            <a:r>
              <a:rPr lang="en-US" dirty="0"/>
              <a:t>    &lt;/select&gt;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814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6B55-4069-1FB5-C362-E0F71189A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2923309" cy="129302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 I S T 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CC2A9-314D-739B-D54B-FCD7F3F8C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94560"/>
            <a:ext cx="12192000" cy="466344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Lists:</a:t>
            </a:r>
            <a:r>
              <a:rPr lang="en-US" dirty="0"/>
              <a:t> </a:t>
            </a:r>
            <a:r>
              <a:rPr lang="en-US" sz="2400" dirty="0"/>
              <a:t>A list in HTML is used to display items in an  organized way.</a:t>
            </a:r>
          </a:p>
          <a:p>
            <a:pPr marL="0" indent="0">
              <a:buNone/>
            </a:pPr>
            <a:r>
              <a:rPr lang="en-US" sz="2400" dirty="0"/>
              <a:t>      HTML provides three types of lists: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Ordered List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Unordered List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Definition List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Ordered List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sz="2400" dirty="0"/>
              <a:t>1.An ordered list shows items in numbered format and alphabet format.</a:t>
            </a:r>
          </a:p>
          <a:p>
            <a:pPr marL="0" indent="0">
              <a:buNone/>
            </a:pPr>
            <a:r>
              <a:rPr lang="en-US" sz="2400" dirty="0"/>
              <a:t>2.&lt;ol&gt;&lt;/ol&gt;: is the tag, used to create “ordered list”.</a:t>
            </a:r>
          </a:p>
          <a:p>
            <a:pPr marL="0" indent="0">
              <a:buNone/>
            </a:pPr>
            <a:r>
              <a:rPr lang="en-US" sz="2400" dirty="0"/>
              <a:t>3.&lt;li&gt;&lt;/li&gt;is the tag , used to create list item.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030A0"/>
                </a:solidFill>
              </a:rPr>
              <a:t>Syntax:</a:t>
            </a:r>
            <a:r>
              <a:rPr lang="en-US" sz="2400" dirty="0"/>
              <a:t> &lt;ol&gt;</a:t>
            </a:r>
          </a:p>
          <a:p>
            <a:pPr marL="0" indent="0">
              <a:buNone/>
            </a:pPr>
            <a:r>
              <a:rPr lang="en-US" sz="2400" dirty="0"/>
              <a:t>	      &lt;li&gt;&lt;/li&gt;</a:t>
            </a:r>
          </a:p>
          <a:p>
            <a:pPr marL="0" indent="0">
              <a:buNone/>
            </a:pPr>
            <a:r>
              <a:rPr lang="en-US" sz="2400" dirty="0"/>
              <a:t>	      &lt;li&gt;&lt;/li&gt;</a:t>
            </a:r>
          </a:p>
          <a:p>
            <a:pPr marL="0" indent="0">
              <a:buNone/>
            </a:pPr>
            <a:r>
              <a:rPr lang="en-US" sz="2400" dirty="0"/>
              <a:t>	&lt;/ol&gt;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992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360367-079A-8827-16CF-51A6611AEAAB}"/>
              </a:ext>
            </a:extLst>
          </p:cNvPr>
          <p:cNvSpPr txBox="1"/>
          <p:nvPr/>
        </p:nvSpPr>
        <p:spPr>
          <a:xfrm>
            <a:off x="-1" y="1385043"/>
            <a:ext cx="12192001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Unordered list: </a:t>
            </a:r>
            <a:r>
              <a:rPr lang="en-US" dirty="0">
                <a:solidFill>
                  <a:schemeClr val="tx1"/>
                </a:solidFill>
              </a:rPr>
              <a:t>An unordered list shows items with bullet points.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  It uses the&lt;ul&gt; tag and&lt;li&gt; for items.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&lt;ul&gt;&lt;/ul&gt;tag is used to create unordered list.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Syntax: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		</a:t>
            </a:r>
            <a:r>
              <a:rPr lang="en-US" sz="1700" b="1" dirty="0">
                <a:solidFill>
                  <a:schemeClr val="tx1"/>
                </a:solidFill>
              </a:rPr>
              <a:t>&lt;ul&gt;</a:t>
            </a:r>
            <a:endParaRPr lang="en-US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			&lt;li&gt;&lt;/li&gt;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			&lt;li&gt;&lt;/li&gt;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		&lt;/ul&gt;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Attributes: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chemeClr val="tx1"/>
                </a:solidFill>
              </a:rPr>
              <a:t>type=</a:t>
            </a:r>
            <a:r>
              <a:rPr lang="en-US" dirty="0">
                <a:solidFill>
                  <a:schemeClr val="tx1"/>
                </a:solidFill>
              </a:rPr>
              <a:t> “disc”/”circle”/”square”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default is ”disc”</a:t>
            </a:r>
          </a:p>
          <a:p>
            <a:r>
              <a:rPr lang="en-US" b="1" dirty="0">
                <a:solidFill>
                  <a:srgbClr val="FF0000"/>
                </a:solidFill>
              </a:rPr>
              <a:t>Definition List</a:t>
            </a:r>
            <a:r>
              <a:rPr lang="en-US" sz="1600" dirty="0"/>
              <a:t>: A definition list is used to define terms and their description.</a:t>
            </a:r>
          </a:p>
          <a:p>
            <a:r>
              <a:rPr lang="en-US" b="1" dirty="0">
                <a:solidFill>
                  <a:srgbClr val="FF0000"/>
                </a:solidFill>
              </a:rPr>
              <a:t>			    </a:t>
            </a:r>
            <a:r>
              <a:rPr lang="en-US" dirty="0"/>
              <a:t>&lt;dl&gt;&lt;/dl&gt;used to create definition list.</a:t>
            </a:r>
          </a:p>
          <a:p>
            <a:r>
              <a:rPr lang="en-US" b="1" dirty="0"/>
              <a:t>			</a:t>
            </a:r>
            <a:r>
              <a:rPr lang="en-US" sz="1600" dirty="0"/>
              <a:t>   &lt;dt&gt;&lt;/dt&gt;used to create definition tag.</a:t>
            </a:r>
          </a:p>
          <a:p>
            <a:r>
              <a:rPr lang="en-US" sz="1600" dirty="0"/>
              <a:t>			    &lt;dd&gt;&lt;/dd&gt;used to create definition description</a:t>
            </a:r>
            <a:r>
              <a:rPr lang="en-US" b="1" dirty="0"/>
              <a:t>.</a:t>
            </a:r>
          </a:p>
          <a:p>
            <a:r>
              <a:rPr lang="en-US" b="1" dirty="0"/>
              <a:t>Syntax:      &lt;dl&gt;</a:t>
            </a:r>
          </a:p>
          <a:p>
            <a:r>
              <a:rPr lang="en-US" b="1" dirty="0"/>
              <a:t>				&lt;dt&gt;&lt;/dt&gt;</a:t>
            </a:r>
          </a:p>
          <a:p>
            <a:r>
              <a:rPr lang="en-US" b="1" dirty="0"/>
              <a:t>				&lt;dd&gt;&lt;/dd&gt;</a:t>
            </a:r>
          </a:p>
          <a:p>
            <a:r>
              <a:rPr lang="en-US" b="1" dirty="0"/>
              <a:t>				&lt;dd&gt;&lt;/dd&gt;</a:t>
            </a:r>
          </a:p>
          <a:p>
            <a:r>
              <a:rPr lang="en-US" b="1" dirty="0"/>
              <a:t>				…..</a:t>
            </a:r>
          </a:p>
          <a:p>
            <a:r>
              <a:rPr lang="en-US" b="1" dirty="0"/>
              <a:t>				&lt;dt&gt;&lt;/dt&gt;</a:t>
            </a:r>
          </a:p>
          <a:p>
            <a:r>
              <a:rPr lang="en-US" b="1" dirty="0"/>
              <a:t>				&lt;dd&gt;&lt;/dd&gt;</a:t>
            </a:r>
          </a:p>
          <a:p>
            <a:r>
              <a:rPr lang="en-US" b="1" dirty="0"/>
              <a:t>				&lt;dd&gt;&lt;/dd&gt;</a:t>
            </a:r>
          </a:p>
          <a:p>
            <a:r>
              <a:rPr lang="en-US" b="1" dirty="0"/>
              <a:t>		  &lt;/dl&gt;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36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CE1D-BA01-63F2-3B98-56231E717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587" y="764373"/>
            <a:ext cx="2812648" cy="1293028"/>
          </a:xfrm>
        </p:spPr>
        <p:txBody>
          <a:bodyPr/>
          <a:lstStyle/>
          <a:p>
            <a:r>
              <a:rPr lang="en-US" dirty="0"/>
              <a:t>Css styles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C528F-C858-D7E1-0553-F5BA29763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1.External style sheet</a:t>
            </a:r>
            <a:r>
              <a:rPr lang="en-US" dirty="0"/>
              <a:t>:&lt;link&gt; tag, is used to include external style sheet.</a:t>
            </a:r>
          </a:p>
          <a:p>
            <a:pPr marL="0" indent="0">
              <a:buNone/>
            </a:pPr>
            <a:r>
              <a:rPr lang="en-US" dirty="0"/>
              <a:t>	•&lt;link&gt; tag is non-paired tag.</a:t>
            </a:r>
          </a:p>
          <a:p>
            <a:pPr marL="0" indent="0">
              <a:buNone/>
            </a:pPr>
            <a:r>
              <a:rPr lang="en-US" dirty="0"/>
              <a:t>	•&lt;link&gt; tag supports two attributes….</a:t>
            </a:r>
          </a:p>
          <a:p>
            <a:pPr marL="0" indent="0">
              <a:buNone/>
            </a:pPr>
            <a:r>
              <a:rPr lang="en-US" dirty="0"/>
              <a:t>		1.rel=“stylesheet”</a:t>
            </a:r>
          </a:p>
          <a:p>
            <a:pPr marL="0" indent="0">
              <a:buNone/>
            </a:pPr>
            <a:r>
              <a:rPr lang="en-US" dirty="0"/>
              <a:t>		2.href=“”</a:t>
            </a:r>
          </a:p>
          <a:p>
            <a:pPr marL="0" indent="0">
              <a:buNone/>
            </a:pPr>
            <a:r>
              <a:rPr lang="en-US" u="sng" dirty="0"/>
              <a:t>2.Internal style sheet</a:t>
            </a:r>
            <a:r>
              <a:rPr lang="en-US" dirty="0"/>
              <a:t>:&lt;style&gt;&lt;/style&gt; tag, is used to include internal stylesheets.</a:t>
            </a:r>
          </a:p>
          <a:p>
            <a:pPr marL="0" indent="0">
              <a:buNone/>
            </a:pPr>
            <a:r>
              <a:rPr lang="en-US" dirty="0"/>
              <a:t>	 •&lt;style&gt;&lt;/style&gt; tag is paired tag.</a:t>
            </a:r>
          </a:p>
          <a:p>
            <a:pPr marL="0" indent="0">
              <a:buNone/>
            </a:pPr>
            <a:r>
              <a:rPr lang="en-US" dirty="0"/>
              <a:t>	 •we may not reuse styles.</a:t>
            </a:r>
          </a:p>
          <a:p>
            <a:pPr marL="0" indent="0">
              <a:buNone/>
            </a:pPr>
            <a:r>
              <a:rPr lang="en-US" u="sng" dirty="0"/>
              <a:t>3.Inline style sheet</a:t>
            </a:r>
            <a:r>
              <a:rPr lang="en-US" dirty="0"/>
              <a:t>: style attribute used to apply inline styles.</a:t>
            </a:r>
          </a:p>
          <a:p>
            <a:pPr marL="0" indent="0">
              <a:buNone/>
            </a:pPr>
            <a:r>
              <a:rPr lang="en-US" dirty="0"/>
              <a:t>	 •ex:&lt;button style=“”&gt;&lt;/button&gt;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675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7E1F-2E38-E632-0E89-9BACE5C9A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5993757" cy="1293028"/>
          </a:xfrm>
        </p:spPr>
        <p:txBody>
          <a:bodyPr/>
          <a:lstStyle/>
          <a:p>
            <a:r>
              <a:rPr lang="en-US" b="1" dirty="0"/>
              <a:t>Css specificity rule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8AC94-B59C-8727-59FE-BF9A1746E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Inline styles{style attribute}</a:t>
            </a:r>
          </a:p>
          <a:p>
            <a:pPr algn="ctr"/>
            <a:endParaRPr lang="en-IN" dirty="0"/>
          </a:p>
          <a:p>
            <a:pPr marL="0" indent="0" algn="ctr">
              <a:buNone/>
            </a:pPr>
            <a:r>
              <a:rPr lang="en-US" dirty="0"/>
              <a:t>•id selector{#}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•class selector{.}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•element selector{tag name}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•universal selector{*}</a:t>
            </a:r>
          </a:p>
          <a:p>
            <a:pPr marL="0" indent="0" algn="ctr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44F9CE-A8DD-0590-752C-FFE2C94C5CD7}"/>
              </a:ext>
            </a:extLst>
          </p:cNvPr>
          <p:cNvCxnSpPr>
            <a:cxnSpLocks/>
          </p:cNvCxnSpPr>
          <p:nvPr/>
        </p:nvCxnSpPr>
        <p:spPr>
          <a:xfrm>
            <a:off x="6096000" y="2777924"/>
            <a:ext cx="0" cy="21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D97F91-F95E-E24C-EA04-C179F1794953}"/>
              </a:ext>
            </a:extLst>
          </p:cNvPr>
          <p:cNvCxnSpPr>
            <a:cxnSpLocks/>
          </p:cNvCxnSpPr>
          <p:nvPr/>
        </p:nvCxnSpPr>
        <p:spPr>
          <a:xfrm>
            <a:off x="6096000" y="3518704"/>
            <a:ext cx="0" cy="341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3FF1DF-875C-CBA1-F8E1-3515B364A7C6}"/>
              </a:ext>
            </a:extLst>
          </p:cNvPr>
          <p:cNvCxnSpPr>
            <a:cxnSpLocks/>
          </p:cNvCxnSpPr>
          <p:nvPr/>
        </p:nvCxnSpPr>
        <p:spPr>
          <a:xfrm>
            <a:off x="6096000" y="4433104"/>
            <a:ext cx="0" cy="358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819163-BF0B-7CB7-0410-4EA9A5AC5043}"/>
              </a:ext>
            </a:extLst>
          </p:cNvPr>
          <p:cNvCxnSpPr>
            <a:cxnSpLocks/>
          </p:cNvCxnSpPr>
          <p:nvPr/>
        </p:nvCxnSpPr>
        <p:spPr>
          <a:xfrm>
            <a:off x="6096000" y="5347504"/>
            <a:ext cx="0" cy="277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28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D6AB-0F8C-DFAD-43FB-A4724E6E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536" y="764373"/>
            <a:ext cx="3086100" cy="5344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CSS LAYOUTS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F9406-AD44-88AE-AF49-E68073337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r>
              <a:rPr lang="en-IN" dirty="0"/>
              <a:t>Padding: Space around the content.</a:t>
            </a:r>
          </a:p>
          <a:p>
            <a:pPr marL="0" indent="0">
              <a:buNone/>
            </a:pPr>
            <a:r>
              <a:rPr lang="en-IN" dirty="0"/>
              <a:t>  	&lt;h1&gt; full stack java &lt;/h1&gt;	ex: padding:20px;</a:t>
            </a:r>
          </a:p>
          <a:p>
            <a:r>
              <a:rPr lang="en-IN" dirty="0"/>
              <a:t>Margin: space around the HTML element.</a:t>
            </a:r>
          </a:p>
          <a:p>
            <a:pPr marL="0" indent="0">
              <a:buNone/>
            </a:pPr>
            <a:r>
              <a:rPr lang="en-IN" dirty="0"/>
              <a:t>	&lt;h1&gt; full stack java &lt;/h1&gt;		ex: margin:20px;	</a:t>
            </a:r>
          </a:p>
          <a:p>
            <a:r>
              <a:rPr lang="en-IN" dirty="0"/>
              <a:t>Box-model: combination of margin, border and padding.</a:t>
            </a:r>
          </a:p>
          <a:p>
            <a:pPr marL="0" indent="0">
              <a:buNone/>
            </a:pPr>
            <a:r>
              <a:rPr lang="en-IN" dirty="0"/>
              <a:t>						TOP </a:t>
            </a:r>
          </a:p>
          <a:p>
            <a:pPr marL="0" indent="0">
              <a:buNone/>
            </a:pPr>
            <a:r>
              <a:rPr lang="en-IN" dirty="0"/>
              <a:t>		MARGIN</a:t>
            </a:r>
          </a:p>
          <a:p>
            <a:pPr marL="0" indent="0">
              <a:buNone/>
            </a:pPr>
            <a:r>
              <a:rPr lang="en-IN" dirty="0"/>
              <a:t>				BORDER</a:t>
            </a:r>
          </a:p>
          <a:p>
            <a:pPr marL="0" indent="0">
              <a:buNone/>
            </a:pPr>
            <a:r>
              <a:rPr lang="en-IN" dirty="0"/>
              <a:t>						PADDING</a:t>
            </a:r>
          </a:p>
          <a:p>
            <a:pPr marL="0" indent="0">
              <a:buNone/>
            </a:pPr>
            <a:r>
              <a:rPr lang="en-IN" dirty="0"/>
              <a:t>   LEFT					CONTENT						RIGHT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A76EA9-99CD-4A08-E544-8DD8D64C806A}"/>
              </a:ext>
            </a:extLst>
          </p:cNvPr>
          <p:cNvSpPr/>
          <p:nvPr/>
        </p:nvSpPr>
        <p:spPr>
          <a:xfrm>
            <a:off x="1641765" y="1672935"/>
            <a:ext cx="2015835" cy="5448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5A4EEB-032D-6F63-7C89-A6706E406F4D}"/>
              </a:ext>
            </a:extLst>
          </p:cNvPr>
          <p:cNvSpPr/>
          <p:nvPr/>
        </p:nvSpPr>
        <p:spPr>
          <a:xfrm>
            <a:off x="737755" y="2519151"/>
            <a:ext cx="3979719" cy="5520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E96D60-46DC-1EA6-BE6E-7FB43BAAB31F}"/>
              </a:ext>
            </a:extLst>
          </p:cNvPr>
          <p:cNvSpPr/>
          <p:nvPr/>
        </p:nvSpPr>
        <p:spPr>
          <a:xfrm>
            <a:off x="737755" y="3786847"/>
            <a:ext cx="9154389" cy="299841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D9F39B-8137-8BAE-A27B-C7A786307363}"/>
              </a:ext>
            </a:extLst>
          </p:cNvPr>
          <p:cNvSpPr/>
          <p:nvPr/>
        </p:nvSpPr>
        <p:spPr>
          <a:xfrm>
            <a:off x="872836" y="3906981"/>
            <a:ext cx="9663546" cy="26496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42762E-978A-7793-5F4F-FCCE2CD5628D}"/>
              </a:ext>
            </a:extLst>
          </p:cNvPr>
          <p:cNvSpPr/>
          <p:nvPr/>
        </p:nvSpPr>
        <p:spPr>
          <a:xfrm>
            <a:off x="1257300" y="4306392"/>
            <a:ext cx="8905009" cy="208401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8516F7-93C3-19E4-FAE1-D559ED8B48C3}"/>
              </a:ext>
            </a:extLst>
          </p:cNvPr>
          <p:cNvSpPr/>
          <p:nvPr/>
        </p:nvSpPr>
        <p:spPr>
          <a:xfrm>
            <a:off x="1641765" y="4670074"/>
            <a:ext cx="8084125" cy="132548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9BA89C-764B-6D86-4EBC-A110C2C5E2B8}"/>
              </a:ext>
            </a:extLst>
          </p:cNvPr>
          <p:cNvSpPr/>
          <p:nvPr/>
        </p:nvSpPr>
        <p:spPr>
          <a:xfrm>
            <a:off x="3200400" y="5185064"/>
            <a:ext cx="4914900" cy="644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87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9BD5-B02C-8675-D532-D0B8E3D2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6422020" cy="1293028"/>
          </a:xfrm>
        </p:spPr>
        <p:txBody>
          <a:bodyPr/>
          <a:lstStyle/>
          <a:p>
            <a:r>
              <a:rPr lang="en-US" b="1" dirty="0"/>
              <a:t>Pseudo classes in css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69A10-7C62-E94C-B2C2-04A4BA707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classes used to set special</a:t>
            </a:r>
            <a:r>
              <a:rPr lang="en-IN" dirty="0"/>
              <a:t> state to an element.</a:t>
            </a:r>
          </a:p>
          <a:p>
            <a:r>
              <a:rPr lang="en-IN" dirty="0"/>
              <a:t>We  will apply pseudo classes by using “:”.</a:t>
            </a:r>
          </a:p>
          <a:p>
            <a:pPr marL="0" indent="0">
              <a:buNone/>
            </a:pPr>
            <a:r>
              <a:rPr lang="en-IN" dirty="0"/>
              <a:t>	1.	.c1:hover{} </a:t>
            </a:r>
          </a:p>
          <a:p>
            <a:pPr marL="0" indent="0">
              <a:buNone/>
            </a:pPr>
            <a:r>
              <a:rPr lang="en-IN" dirty="0"/>
              <a:t>	2.	.c2:first – of – type{}</a:t>
            </a:r>
          </a:p>
          <a:p>
            <a:pPr marL="0" indent="0">
              <a:buNone/>
            </a:pPr>
            <a:r>
              <a:rPr lang="en-IN" dirty="0"/>
              <a:t>	3.	.c3:last – of – type{}</a:t>
            </a:r>
          </a:p>
          <a:p>
            <a:pPr marL="0" indent="0">
              <a:buNone/>
            </a:pPr>
            <a:r>
              <a:rPr lang="en-IN" dirty="0"/>
              <a:t>	4.	.c4:nth-child{]</a:t>
            </a:r>
          </a:p>
          <a:p>
            <a:pPr marL="0" indent="0">
              <a:buNone/>
            </a:pPr>
            <a:r>
              <a:rPr lang="en-IN" dirty="0"/>
              <a:t>	5.	.c5:not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endParaRPr lang="en-IN" dirty="0"/>
          </a:p>
          <a:p>
            <a:pPr marL="1828800" lvl="4" indent="0">
              <a:buNone/>
            </a:pPr>
            <a:endParaRPr lang="en-IN" dirty="0"/>
          </a:p>
          <a:p>
            <a:endParaRPr lang="en-IN" dirty="0"/>
          </a:p>
          <a:p>
            <a:pPr marL="1828800" lvl="4" indent="0">
              <a:buNone/>
            </a:pP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843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262B-EF4A-69E4-1951-068178E0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55585"/>
            <a:ext cx="5287701" cy="844952"/>
          </a:xfrm>
        </p:spPr>
        <p:txBody>
          <a:bodyPr/>
          <a:lstStyle/>
          <a:p>
            <a:r>
              <a:rPr lang="en-US" b="1" dirty="0"/>
              <a:t>Css dimensions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34400-E73C-070D-0E20-63A9E2DA9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3" y="1562582"/>
            <a:ext cx="12110977" cy="5295418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CSS dimensions: </a:t>
            </a:r>
            <a:r>
              <a:rPr lang="en-IN" sz="2400" dirty="0"/>
              <a:t>CSS dimensions are used to control the width and height of elements on webpage</a:t>
            </a:r>
            <a:r>
              <a:rPr lang="en-IN" dirty="0"/>
              <a:t>.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2400" dirty="0"/>
              <a:t>CSS supports following dimensions</a:t>
            </a:r>
          </a:p>
          <a:p>
            <a:pPr marL="0" indent="0">
              <a:buNone/>
            </a:pPr>
            <a:r>
              <a:rPr lang="en-IN" sz="2400" b="1" u="sng" dirty="0"/>
              <a:t>1.rem(root em)</a:t>
            </a:r>
            <a:r>
              <a:rPr lang="en-IN" sz="2400" b="1" dirty="0"/>
              <a:t>:</a:t>
            </a:r>
            <a:r>
              <a:rPr lang="en-IN" sz="2400" dirty="0"/>
              <a:t> All HTML element dimension dependent on root element dimensions.</a:t>
            </a:r>
          </a:p>
          <a:p>
            <a:pPr marL="0" indent="0">
              <a:buNone/>
            </a:pPr>
            <a:r>
              <a:rPr lang="en-IN" sz="2400" dirty="0"/>
              <a:t>    Ex: 1rem=16px</a:t>
            </a:r>
          </a:p>
          <a:p>
            <a:pPr marL="0" indent="0">
              <a:buNone/>
            </a:pPr>
            <a:r>
              <a:rPr lang="en-IN" b="1" u="sng" dirty="0"/>
              <a:t>2.Em</a:t>
            </a:r>
            <a:r>
              <a:rPr lang="en-IN" dirty="0"/>
              <a:t>:  </a:t>
            </a:r>
            <a:r>
              <a:rPr lang="fr-FR" dirty="0"/>
              <a:t>change element dimensions depending on parent element dimensions.</a:t>
            </a:r>
          </a:p>
          <a:p>
            <a:pPr marL="0" indent="0">
              <a:buNone/>
            </a:pPr>
            <a:r>
              <a:rPr lang="en-IN" b="1" u="sng" dirty="0"/>
              <a:t>3.Percentage(%):</a:t>
            </a:r>
          </a:p>
          <a:p>
            <a:r>
              <a:rPr lang="en-US" dirty="0"/>
              <a:t>Measurement with respect to screen called as percentage</a:t>
            </a:r>
          </a:p>
          <a:p>
            <a:r>
              <a:rPr lang="en-IN" dirty="0"/>
              <a:t>child element dimension depending on parent element dimension</a:t>
            </a:r>
          </a:p>
          <a:p>
            <a:pPr marL="0" indent="0">
              <a:buNone/>
            </a:pPr>
            <a:r>
              <a:rPr lang="en-IN" b="1" u="sng" dirty="0"/>
              <a:t>4.Vw(viewport width) &amp; vh(viewport height):</a:t>
            </a:r>
          </a:p>
          <a:p>
            <a:pPr marL="0" indent="0">
              <a:buNone/>
            </a:pPr>
            <a:r>
              <a:rPr lang="en-US" dirty="0"/>
              <a:t>• Measurement with respect to screen called as vw (viewport width) &amp; vh(viewport height)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IN" dirty="0"/>
              <a:t>total screen width=100vw</a:t>
            </a:r>
          </a:p>
          <a:p>
            <a:pPr marL="0" indent="0">
              <a:buNone/>
            </a:pPr>
            <a:r>
              <a:rPr lang="en-US" dirty="0"/>
              <a:t>•</a:t>
            </a:r>
            <a:r>
              <a:rPr lang="en-IN" dirty="0"/>
              <a:t>total screen height=100vh</a:t>
            </a:r>
          </a:p>
          <a:p>
            <a:pPr marL="0" indent="0">
              <a:buNone/>
            </a:pPr>
            <a:r>
              <a:rPr lang="en-US" dirty="0"/>
              <a:t>• all element dimensions depending on screen</a:t>
            </a:r>
          </a:p>
          <a:p>
            <a:pPr marL="0" indent="0">
              <a:buNone/>
            </a:pPr>
            <a:r>
              <a:rPr lang="en-US" dirty="0"/>
              <a:t>•vw &amp; vh suggested to develop "responsive web design"(media queries)</a:t>
            </a:r>
          </a:p>
          <a:p>
            <a:pPr marL="0" indent="0">
              <a:buNone/>
            </a:pPr>
            <a:r>
              <a:rPr lang="en-IN" b="1" u="sng" dirty="0"/>
              <a:t>5. px(pixel):</a:t>
            </a:r>
          </a:p>
          <a:p>
            <a:r>
              <a:rPr lang="en-US" dirty="0"/>
              <a:t>each dot on the screen called as pixel.</a:t>
            </a:r>
          </a:p>
          <a:p>
            <a:r>
              <a:rPr lang="en-US" dirty="0"/>
              <a:t>pixel is repeatedly, used dimension in web development.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787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6D7A-4BAE-484B-1CEB-FCDEDA58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4095509" cy="786635"/>
          </a:xfrm>
        </p:spPr>
        <p:txBody>
          <a:bodyPr/>
          <a:lstStyle/>
          <a:p>
            <a:r>
              <a:rPr lang="en-US" dirty="0"/>
              <a:t>Css positions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502E3-5037-92DE-6328-35E34DD2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17225"/>
            <a:ext cx="12280738" cy="50407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CSS Positions</a:t>
            </a:r>
            <a:r>
              <a:rPr lang="en-US" dirty="0"/>
              <a:t>: </a:t>
            </a:r>
            <a:r>
              <a:rPr lang="en-US" sz="2400" dirty="0"/>
              <a:t>the position property in CSS is used to control how an element is placed on a webpage.</a:t>
            </a:r>
          </a:p>
          <a:p>
            <a:pPr marL="0" indent="0">
              <a:buNone/>
            </a:pPr>
            <a:r>
              <a:rPr lang="en-US" sz="2400" dirty="0"/>
              <a:t>There are 5 main types of positions…</a:t>
            </a:r>
          </a:p>
          <a:p>
            <a:pPr marL="0" indent="0">
              <a:buNone/>
            </a:pPr>
            <a:r>
              <a:rPr lang="en-US" sz="2400" b="1" dirty="0"/>
              <a:t>1</a:t>
            </a:r>
            <a:r>
              <a:rPr lang="en-US" sz="2400" b="1" u="sng" dirty="0"/>
              <a:t>.Static</a:t>
            </a:r>
            <a:r>
              <a:rPr lang="en-US" sz="2400" b="1" dirty="0"/>
              <a:t>: </a:t>
            </a:r>
            <a:r>
              <a:rPr lang="en-US" sz="2400" dirty="0"/>
              <a:t>this is the default value,elements are placed normally according to the page flow.</a:t>
            </a:r>
          </a:p>
          <a:p>
            <a:pPr marL="0" indent="0">
              <a:buNone/>
            </a:pPr>
            <a:r>
              <a:rPr lang="en-US" sz="2400" dirty="0"/>
              <a:t>EX: position: ”static”</a:t>
            </a:r>
            <a:r>
              <a:rPr lang="en-US" sz="2400" b="1" dirty="0"/>
              <a:t>;</a:t>
            </a:r>
          </a:p>
          <a:p>
            <a:pPr marL="0" indent="0">
              <a:buNone/>
            </a:pPr>
            <a:r>
              <a:rPr lang="en-US" sz="2400" b="1" dirty="0"/>
              <a:t>2.</a:t>
            </a:r>
            <a:r>
              <a:rPr lang="en-US" sz="2400" b="1" u="sng" dirty="0"/>
              <a:t>relative</a:t>
            </a:r>
            <a:r>
              <a:rPr lang="en-US" sz="2400" dirty="0"/>
              <a:t>: The element moves down and right from its original place. Because of relative position “layout” may not effect. position relative to its normal position.</a:t>
            </a:r>
          </a:p>
          <a:p>
            <a:pPr marL="0" indent="0">
              <a:buNone/>
            </a:pPr>
            <a:r>
              <a:rPr lang="en-US" sz="2400" b="1" dirty="0"/>
              <a:t>Syntax: position : “relative”;</a:t>
            </a:r>
          </a:p>
          <a:p>
            <a:pPr marL="0" indent="0">
              <a:buNone/>
            </a:pPr>
            <a:r>
              <a:rPr lang="en-US" sz="2400" b="1" dirty="0"/>
              <a:t>		     left : “ “;</a:t>
            </a:r>
          </a:p>
          <a:p>
            <a:pPr marL="0" indent="0">
              <a:buNone/>
            </a:pPr>
            <a:r>
              <a:rPr lang="en-US" sz="2400" b="1" dirty="0"/>
              <a:t>		     top : “ “;</a:t>
            </a:r>
          </a:p>
          <a:p>
            <a:pPr marL="0" indent="0">
              <a:buNone/>
            </a:pPr>
            <a:r>
              <a:rPr lang="en-US" sz="2400" b="1" dirty="0"/>
              <a:t>		     bottom : “ “;</a:t>
            </a:r>
          </a:p>
          <a:p>
            <a:pPr marL="0" indent="0">
              <a:buNone/>
            </a:pPr>
            <a:r>
              <a:rPr lang="en-US" sz="2400" b="1" dirty="0"/>
              <a:t>3.</a:t>
            </a:r>
            <a:r>
              <a:rPr lang="en-US" sz="2400" b="1" u="sng" dirty="0"/>
              <a:t>Absolute</a:t>
            </a:r>
            <a:r>
              <a:rPr lang="en-US" sz="2400" b="1" dirty="0"/>
              <a:t>: </a:t>
            </a:r>
            <a:r>
              <a:rPr lang="en-US" sz="2400" dirty="0"/>
              <a:t>positioned relative to its nearest positioned parent. if no positioned parent exists, It is positioned relative to the whole page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2400" dirty="0"/>
              <a:t>Syntax</a:t>
            </a:r>
            <a:r>
              <a:rPr lang="en-US" sz="2400" b="1" dirty="0"/>
              <a:t>:  position : “ absolute”;</a:t>
            </a:r>
          </a:p>
          <a:p>
            <a:pPr marL="0" indent="0">
              <a:buNone/>
            </a:pPr>
            <a:r>
              <a:rPr lang="en-US" sz="2400" b="1" dirty="0"/>
              <a:t>	   left : “ “;</a:t>
            </a:r>
          </a:p>
          <a:p>
            <a:pPr marL="0" indent="0">
              <a:buNone/>
            </a:pPr>
            <a:r>
              <a:rPr lang="en-US" sz="2400" b="1" dirty="0"/>
              <a:t>	  right : “ “;</a:t>
            </a:r>
          </a:p>
          <a:p>
            <a:pPr marL="0" indent="0">
              <a:buNone/>
            </a:pPr>
            <a:r>
              <a:rPr lang="en-US" sz="2400" b="1" dirty="0"/>
              <a:t>	  top :  “ “;</a:t>
            </a:r>
          </a:p>
          <a:p>
            <a:pPr marL="0" indent="0">
              <a:buNone/>
            </a:pPr>
            <a:r>
              <a:rPr lang="en-US" sz="2400" b="1" dirty="0"/>
              <a:t>	bottom : “ “;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675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5618-8F96-B750-AEB3-1EB78457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9DF00-7CC6-590B-1416-63C63A871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0426"/>
            <a:ext cx="12192000" cy="55175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u="sng" dirty="0"/>
              <a:t>4.fixed</a:t>
            </a:r>
            <a:r>
              <a:rPr lang="en-IN" dirty="0"/>
              <a:t>: it is used to fix element on webpage permantly.</a:t>
            </a:r>
          </a:p>
          <a:p>
            <a:pPr marL="0" indent="0">
              <a:buNone/>
            </a:pPr>
            <a:r>
              <a:rPr lang="en-IN" dirty="0"/>
              <a:t>	syntax: </a:t>
            </a:r>
            <a:r>
              <a:rPr lang="en-US" sz="2000" b="1" dirty="0"/>
              <a:t>position : “ fixed”;</a:t>
            </a:r>
          </a:p>
          <a:p>
            <a:pPr marL="0" indent="0">
              <a:buNone/>
            </a:pPr>
            <a:r>
              <a:rPr lang="en-US" sz="2000" b="1" dirty="0"/>
              <a:t>	 	  left : “ “;</a:t>
            </a:r>
          </a:p>
          <a:p>
            <a:pPr marL="0" indent="0">
              <a:buNone/>
            </a:pPr>
            <a:r>
              <a:rPr lang="en-US" sz="2000" b="1" dirty="0"/>
              <a:t>	 	 right : “ “;</a:t>
            </a:r>
          </a:p>
          <a:p>
            <a:pPr marL="0" indent="0">
              <a:buNone/>
            </a:pPr>
            <a:r>
              <a:rPr lang="en-US" sz="2000" b="1" dirty="0"/>
              <a:t>	 	 top :  “ “;</a:t>
            </a:r>
          </a:p>
          <a:p>
            <a:pPr marL="0" indent="0">
              <a:buNone/>
            </a:pPr>
            <a:r>
              <a:rPr lang="en-US" sz="2000" b="1" dirty="0"/>
              <a:t>		bottom : “ “;</a:t>
            </a:r>
          </a:p>
          <a:p>
            <a:pPr marL="0" indent="0">
              <a:buNone/>
            </a:pPr>
            <a:r>
              <a:rPr lang="en-US" sz="2000" b="1" u="sng" dirty="0"/>
              <a:t>5.sticky</a:t>
            </a:r>
            <a:r>
              <a:rPr lang="en-US" sz="2000" b="1" dirty="0"/>
              <a:t>: it is used to element on webpage while scrolling.</a:t>
            </a:r>
          </a:p>
          <a:p>
            <a:pPr marL="0" indent="0">
              <a:buNone/>
            </a:pPr>
            <a:r>
              <a:rPr lang="en-US" sz="2000" b="1" dirty="0"/>
              <a:t>	position : “ sticky”;</a:t>
            </a:r>
          </a:p>
          <a:p>
            <a:pPr marL="0" indent="0">
              <a:buNone/>
            </a:pPr>
            <a:r>
              <a:rPr lang="en-US" sz="2000" b="1" dirty="0"/>
              <a:t>	top :  “ “;</a:t>
            </a:r>
          </a:p>
          <a:p>
            <a:pPr marL="0" indent="0">
              <a:buNone/>
            </a:pPr>
            <a:r>
              <a:rPr lang="en-US" sz="2000" b="1" dirty="0"/>
              <a:t>	bottom : “ “;</a:t>
            </a:r>
          </a:p>
          <a:p>
            <a:pPr marL="0" indent="0" algn="ctr">
              <a:buNone/>
            </a:pPr>
            <a:r>
              <a:rPr lang="en-US" sz="2000" b="1" u="sng" dirty="0" err="1"/>
              <a:t>Iframe</a:t>
            </a:r>
            <a:r>
              <a:rPr lang="en-US" sz="2000" b="1" u="sng" dirty="0"/>
              <a:t> tag</a:t>
            </a:r>
          </a:p>
          <a:p>
            <a:pPr marL="0" indent="0" algn="ctr">
              <a:buNone/>
            </a:pPr>
            <a:r>
              <a:rPr lang="en-US" sz="2000" b="1" dirty="0"/>
              <a:t>This tag used to…..</a:t>
            </a:r>
          </a:p>
          <a:p>
            <a:pPr marL="0" indent="0">
              <a:buNone/>
            </a:pPr>
            <a:r>
              <a:rPr lang="en-US" sz="2000" b="1" dirty="0"/>
              <a:t>1.Include google maps</a:t>
            </a:r>
          </a:p>
          <a:p>
            <a:pPr marL="0" indent="0">
              <a:buNone/>
            </a:pPr>
            <a:r>
              <a:rPr lang="en-US" sz="2000" b="1" dirty="0"/>
              <a:t>2.Play youtube videos</a:t>
            </a:r>
          </a:p>
          <a:p>
            <a:pPr marL="0" indent="0">
              <a:buNone/>
            </a:pPr>
            <a:r>
              <a:rPr lang="en-US" sz="2000" b="1" dirty="0"/>
              <a:t>3.To open PDF files</a:t>
            </a:r>
          </a:p>
          <a:p>
            <a:pPr marL="0" indent="0">
              <a:buNone/>
            </a:pPr>
            <a:r>
              <a:rPr lang="en-US" sz="2000" b="1" dirty="0"/>
              <a:t>4.Include web pages</a:t>
            </a:r>
          </a:p>
          <a:p>
            <a:pPr marL="0" indent="0">
              <a:buNone/>
            </a:pPr>
            <a:r>
              <a:rPr lang="en-US" sz="2000" b="1" dirty="0"/>
              <a:t>5.Include Wikipedia files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048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22C3-5B4E-E4C7-684F-8D359F83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FBB12-9339-496E-C0B6-ABBC77288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4264" y="2514601"/>
            <a:ext cx="7921337" cy="2119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6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…T H A N K Y O U…</a:t>
            </a:r>
            <a:endParaRPr lang="en-IN" sz="5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F0B3EC2F-B787-4344-8B2B-43A8443EA29A}"/>
              </a:ext>
            </a:extLst>
          </p:cNvPr>
          <p:cNvSpPr/>
          <p:nvPr/>
        </p:nvSpPr>
        <p:spPr>
          <a:xfrm>
            <a:off x="4249883" y="3574473"/>
            <a:ext cx="3917372" cy="2628900"/>
          </a:xfrm>
          <a:prstGeom prst="smileyFac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30223994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569</TotalTime>
  <Words>3132</Words>
  <Application>Microsoft Office PowerPoint</Application>
  <PresentationFormat>Widescreen</PresentationFormat>
  <Paragraphs>409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Algerian</vt:lpstr>
      <vt:lpstr>Arial</vt:lpstr>
      <vt:lpstr>Calibri</vt:lpstr>
      <vt:lpstr>Century Gothic</vt:lpstr>
      <vt:lpstr>Wingdings</vt:lpstr>
      <vt:lpstr>Vapor Trail</vt:lpstr>
      <vt:lpstr>                       ….Career IT  TRAINING INSTITUTE ....                  ..H T M L &amp; C S S  FUNDAMENTALS FOR WEBPAGE DESIGN..                  </vt:lpstr>
      <vt:lpstr>CONCEPTS</vt:lpstr>
      <vt:lpstr>INTRODUCTION</vt:lpstr>
      <vt:lpstr>html tags</vt:lpstr>
      <vt:lpstr>Html headings</vt:lpstr>
      <vt:lpstr>Html-5 features</vt:lpstr>
      <vt:lpstr>Html elements</vt:lpstr>
      <vt:lpstr>Semantic elements</vt:lpstr>
      <vt:lpstr>Structure of webpage</vt:lpstr>
      <vt:lpstr>selectors</vt:lpstr>
      <vt:lpstr>PowerPoint Presentation</vt:lpstr>
      <vt:lpstr>Paragraphs </vt:lpstr>
      <vt:lpstr>divisions</vt:lpstr>
      <vt:lpstr>images</vt:lpstr>
      <vt:lpstr>tables</vt:lpstr>
      <vt:lpstr>Table attributes</vt:lpstr>
      <vt:lpstr>forms</vt:lpstr>
      <vt:lpstr>PowerPoint Presentation</vt:lpstr>
      <vt:lpstr>Form controls</vt:lpstr>
      <vt:lpstr>PowerPoint Presentation</vt:lpstr>
      <vt:lpstr>L I S T S</vt:lpstr>
      <vt:lpstr>PowerPoint Presentation</vt:lpstr>
      <vt:lpstr>Css styles</vt:lpstr>
      <vt:lpstr>Css specificity rule</vt:lpstr>
      <vt:lpstr>CSS LAYOUTS</vt:lpstr>
      <vt:lpstr>Pseudo classes in css</vt:lpstr>
      <vt:lpstr>Css dimensions</vt:lpstr>
      <vt:lpstr>Css positions </vt:lpstr>
      <vt:lpstr> 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johnpeter995135@gmail.com</dc:creator>
  <cp:lastModifiedBy>johnpeter995135@gmail.com</cp:lastModifiedBy>
  <cp:revision>5</cp:revision>
  <dcterms:created xsi:type="dcterms:W3CDTF">2026-02-20T15:35:57Z</dcterms:created>
  <dcterms:modified xsi:type="dcterms:W3CDTF">2026-02-22T17:14:25Z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